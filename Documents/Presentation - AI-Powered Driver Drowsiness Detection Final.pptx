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DM Sans Bold" charset="1" panose="00000000000000000000"/>
      <p:regular r:id="rId19"/>
    </p:embeddedFont>
    <p:embeddedFont>
      <p:font typeface="DM Sans"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png" Type="http://schemas.openxmlformats.org/officeDocument/2006/relationships/image"/><Relationship Id="rId4" Target="../media/image1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3D62"/>
        </a:solidFill>
      </p:bgPr>
    </p:bg>
    <p:spTree>
      <p:nvGrpSpPr>
        <p:cNvPr id="1" name=""/>
        <p:cNvGrpSpPr/>
        <p:nvPr/>
      </p:nvGrpSpPr>
      <p:grpSpPr>
        <a:xfrm>
          <a:off x="0" y="0"/>
          <a:ext cx="0" cy="0"/>
          <a:chOff x="0" y="0"/>
          <a:chExt cx="0" cy="0"/>
        </a:xfrm>
      </p:grpSpPr>
      <p:grpSp>
        <p:nvGrpSpPr>
          <p:cNvPr name="Group 2" id="2"/>
          <p:cNvGrpSpPr/>
          <p:nvPr/>
        </p:nvGrpSpPr>
        <p:grpSpPr>
          <a:xfrm rot="0">
            <a:off x="10901266" y="285750"/>
            <a:ext cx="7126185" cy="9715500"/>
            <a:chOff x="0" y="0"/>
            <a:chExt cx="1072489" cy="1462180"/>
          </a:xfrm>
        </p:grpSpPr>
        <p:sp>
          <p:nvSpPr>
            <p:cNvPr name="Freeform 3" id="3"/>
            <p:cNvSpPr/>
            <p:nvPr/>
          </p:nvSpPr>
          <p:spPr>
            <a:xfrm flipH="false" flipV="false" rot="0">
              <a:off x="0" y="0"/>
              <a:ext cx="1072489" cy="1462180"/>
            </a:xfrm>
            <a:custGeom>
              <a:avLst/>
              <a:gdLst/>
              <a:ahLst/>
              <a:cxnLst/>
              <a:rect r="r" b="b" t="t" l="l"/>
              <a:pathLst>
                <a:path h="1462180" w="1072489">
                  <a:moveTo>
                    <a:pt x="32592" y="0"/>
                  </a:moveTo>
                  <a:lnTo>
                    <a:pt x="1039897" y="0"/>
                  </a:lnTo>
                  <a:cubicBezTo>
                    <a:pt x="1057897" y="0"/>
                    <a:pt x="1072489" y="14592"/>
                    <a:pt x="1072489" y="32592"/>
                  </a:cubicBezTo>
                  <a:lnTo>
                    <a:pt x="1072489" y="1429588"/>
                  </a:lnTo>
                  <a:cubicBezTo>
                    <a:pt x="1072489" y="1447588"/>
                    <a:pt x="1057897" y="1462180"/>
                    <a:pt x="1039897" y="1462180"/>
                  </a:cubicBezTo>
                  <a:lnTo>
                    <a:pt x="32592" y="1462180"/>
                  </a:lnTo>
                  <a:cubicBezTo>
                    <a:pt x="23948" y="1462180"/>
                    <a:pt x="15658" y="1458746"/>
                    <a:pt x="9546" y="1452634"/>
                  </a:cubicBezTo>
                  <a:cubicBezTo>
                    <a:pt x="3434" y="1446522"/>
                    <a:pt x="0" y="1438232"/>
                    <a:pt x="0" y="1429588"/>
                  </a:cubicBezTo>
                  <a:lnTo>
                    <a:pt x="0" y="32592"/>
                  </a:lnTo>
                  <a:cubicBezTo>
                    <a:pt x="0" y="14592"/>
                    <a:pt x="14592" y="0"/>
                    <a:pt x="32592" y="0"/>
                  </a:cubicBezTo>
                  <a:close/>
                </a:path>
              </a:pathLst>
            </a:custGeom>
            <a:blipFill>
              <a:blip r:embed="rId2"/>
              <a:stretch>
                <a:fillRect l="0" t="-152" r="0" b="-152"/>
              </a:stretch>
            </a:blipFill>
          </p:spPr>
        </p:sp>
      </p:grpSp>
      <p:sp>
        <p:nvSpPr>
          <p:cNvPr name="TextBox 4" id="4"/>
          <p:cNvSpPr txBox="true"/>
          <p:nvPr/>
        </p:nvSpPr>
        <p:spPr>
          <a:xfrm rot="0">
            <a:off x="179217" y="2675689"/>
            <a:ext cx="10555458" cy="5171563"/>
          </a:xfrm>
          <a:prstGeom prst="rect">
            <a:avLst/>
          </a:prstGeom>
        </p:spPr>
        <p:txBody>
          <a:bodyPr anchor="t" rtlCol="false" tIns="0" lIns="0" bIns="0" rIns="0">
            <a:spAutoFit/>
          </a:bodyPr>
          <a:lstStyle/>
          <a:p>
            <a:pPr algn="ctr" marL="0" indent="0" lvl="0">
              <a:lnSpc>
                <a:spcPts val="10104"/>
              </a:lnSpc>
            </a:pPr>
            <a:r>
              <a:rPr lang="en-US" b="true" sz="10104" spc="-303">
                <a:solidFill>
                  <a:srgbClr val="FFFFFF"/>
                </a:solidFill>
                <a:latin typeface="DM Sans Bold"/>
                <a:ea typeface="DM Sans Bold"/>
                <a:cs typeface="DM Sans Bold"/>
                <a:sym typeface="DM Sans Bold"/>
              </a:rPr>
              <a:t>AI-Powered Driver Drowsiness Detection and Rescue System</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A3D62"/>
        </a:solidFill>
      </p:bgPr>
    </p:bg>
    <p:spTree>
      <p:nvGrpSpPr>
        <p:cNvPr id="1" name=""/>
        <p:cNvGrpSpPr/>
        <p:nvPr/>
      </p:nvGrpSpPr>
      <p:grpSpPr>
        <a:xfrm>
          <a:off x="0" y="0"/>
          <a:ext cx="0" cy="0"/>
          <a:chOff x="0" y="0"/>
          <a:chExt cx="0" cy="0"/>
        </a:xfrm>
      </p:grpSpPr>
      <p:sp>
        <p:nvSpPr>
          <p:cNvPr name="TextBox 2" id="2"/>
          <p:cNvSpPr txBox="true"/>
          <p:nvPr/>
        </p:nvSpPr>
        <p:spPr>
          <a:xfrm rot="0">
            <a:off x="2105025" y="2811463"/>
            <a:ext cx="14077950" cy="5571490"/>
          </a:xfrm>
          <a:prstGeom prst="rect">
            <a:avLst/>
          </a:prstGeom>
        </p:spPr>
        <p:txBody>
          <a:bodyPr anchor="t" rtlCol="false" tIns="0" lIns="0" bIns="0" rIns="0">
            <a:spAutoFit/>
          </a:bodyPr>
          <a:lstStyle/>
          <a:p>
            <a:pPr algn="ctr">
              <a:lnSpc>
                <a:spcPts val="4879"/>
              </a:lnSpc>
            </a:pPr>
            <a:r>
              <a:rPr lang="en-US" sz="3999" spc="-119">
                <a:solidFill>
                  <a:srgbClr val="FFFFFF"/>
                </a:solidFill>
                <a:latin typeface="DM Sans"/>
                <a:ea typeface="DM Sans"/>
                <a:cs typeface="DM Sans"/>
                <a:sym typeface="DM Sans"/>
              </a:rPr>
              <a:t>The rapid expansion of global road transportation and increasing vehicle density have intensified the need for autonomous safety systems to detect accidents and reduce response time. </a:t>
            </a:r>
            <a:r>
              <a:rPr lang="en-US" sz="3999" spc="-119">
                <a:solidFill>
                  <a:srgbClr val="FFFFFF"/>
                </a:solidFill>
                <a:latin typeface="DM Sans"/>
                <a:ea typeface="DM Sans"/>
                <a:cs typeface="DM Sans"/>
                <a:sym typeface="DM Sans"/>
              </a:rPr>
              <a:t>This project presents a real-time Automatic Vehicle Accident Detecti</a:t>
            </a:r>
            <a:r>
              <a:rPr lang="en-US" sz="3999" spc="-119">
                <a:solidFill>
                  <a:srgbClr val="FFFFFF"/>
                </a:solidFill>
                <a:latin typeface="DM Sans"/>
                <a:ea typeface="DM Sans"/>
                <a:cs typeface="DM Sans"/>
                <a:sym typeface="DM Sans"/>
              </a:rPr>
              <a:t>o</a:t>
            </a:r>
            <a:r>
              <a:rPr lang="en-US" sz="3999" spc="-119">
                <a:solidFill>
                  <a:srgbClr val="FFFFFF"/>
                </a:solidFill>
                <a:latin typeface="DM Sans"/>
                <a:ea typeface="DM Sans"/>
                <a:cs typeface="DM Sans"/>
                <a:sym typeface="DM Sans"/>
              </a:rPr>
              <a:t>n </a:t>
            </a:r>
            <a:r>
              <a:rPr lang="en-US" sz="3999" spc="-119">
                <a:solidFill>
                  <a:srgbClr val="FFFFFF"/>
                </a:solidFill>
                <a:latin typeface="DM Sans"/>
                <a:ea typeface="DM Sans"/>
                <a:cs typeface="DM Sans"/>
                <a:sym typeface="DM Sans"/>
              </a:rPr>
              <a:t>a</a:t>
            </a:r>
            <a:r>
              <a:rPr lang="en-US" sz="3999" spc="-119">
                <a:solidFill>
                  <a:srgbClr val="FFFFFF"/>
                </a:solidFill>
                <a:latin typeface="DM Sans"/>
                <a:ea typeface="DM Sans"/>
                <a:cs typeface="DM Sans"/>
                <a:sym typeface="DM Sans"/>
              </a:rPr>
              <a:t>n</a:t>
            </a:r>
            <a:r>
              <a:rPr lang="en-US" sz="3999" spc="-119">
                <a:solidFill>
                  <a:srgbClr val="FFFFFF"/>
                </a:solidFill>
                <a:latin typeface="DM Sans"/>
                <a:ea typeface="DM Sans"/>
                <a:cs typeface="DM Sans"/>
                <a:sym typeface="DM Sans"/>
              </a:rPr>
              <a:t>d </a:t>
            </a:r>
            <a:r>
              <a:rPr lang="en-US" sz="3999" spc="-119">
                <a:solidFill>
                  <a:srgbClr val="FFFFFF"/>
                </a:solidFill>
                <a:latin typeface="DM Sans"/>
                <a:ea typeface="DM Sans"/>
                <a:cs typeface="DM Sans"/>
                <a:sym typeface="DM Sans"/>
              </a:rPr>
              <a:t>Re</a:t>
            </a:r>
            <a:r>
              <a:rPr lang="en-US" sz="3999" spc="-119">
                <a:solidFill>
                  <a:srgbClr val="FFFFFF"/>
                </a:solidFill>
                <a:latin typeface="DM Sans"/>
                <a:ea typeface="DM Sans"/>
                <a:cs typeface="DM Sans"/>
                <a:sym typeface="DM Sans"/>
              </a:rPr>
              <a:t>s</a:t>
            </a:r>
            <a:r>
              <a:rPr lang="en-US" sz="3999" spc="-119">
                <a:solidFill>
                  <a:srgbClr val="FFFFFF"/>
                </a:solidFill>
                <a:latin typeface="DM Sans"/>
                <a:ea typeface="DM Sans"/>
                <a:cs typeface="DM Sans"/>
                <a:sym typeface="DM Sans"/>
              </a:rPr>
              <a:t>cu</a:t>
            </a:r>
            <a:r>
              <a:rPr lang="en-US" sz="3999" spc="-119">
                <a:solidFill>
                  <a:srgbClr val="FFFFFF"/>
                </a:solidFill>
                <a:latin typeface="DM Sans"/>
                <a:ea typeface="DM Sans"/>
                <a:cs typeface="DM Sans"/>
                <a:sym typeface="DM Sans"/>
              </a:rPr>
              <a:t>e</a:t>
            </a:r>
            <a:r>
              <a:rPr lang="en-US" sz="3999" spc="-119">
                <a:solidFill>
                  <a:srgbClr val="FFFFFF"/>
                </a:solidFill>
                <a:latin typeface="DM Sans"/>
                <a:ea typeface="DM Sans"/>
                <a:cs typeface="DM Sans"/>
                <a:sym typeface="DM Sans"/>
              </a:rPr>
              <a:t> Sys</a:t>
            </a:r>
            <a:r>
              <a:rPr lang="en-US" sz="3999" spc="-119">
                <a:solidFill>
                  <a:srgbClr val="FFFFFF"/>
                </a:solidFill>
                <a:latin typeface="DM Sans"/>
                <a:ea typeface="DM Sans"/>
                <a:cs typeface="DM Sans"/>
                <a:sym typeface="DM Sans"/>
              </a:rPr>
              <a:t>t</a:t>
            </a:r>
            <a:r>
              <a:rPr lang="en-US" sz="3999" spc="-119">
                <a:solidFill>
                  <a:srgbClr val="FFFFFF"/>
                </a:solidFill>
                <a:latin typeface="DM Sans"/>
                <a:ea typeface="DM Sans"/>
                <a:cs typeface="DM Sans"/>
                <a:sym typeface="DM Sans"/>
              </a:rPr>
              <a:t>em designed to identify sudden impacts or abnormal vehicle movements using sensors. The system immediately activates a buzzer, displays alerts on an LCD, and sends notifications to enable quick emergency response and enhance road safety.</a:t>
            </a:r>
          </a:p>
        </p:txBody>
      </p:sp>
      <p:sp>
        <p:nvSpPr>
          <p:cNvPr name="TextBox 3" id="3"/>
          <p:cNvSpPr txBox="true"/>
          <p:nvPr/>
        </p:nvSpPr>
        <p:spPr>
          <a:xfrm rot="0">
            <a:off x="3543300" y="1532634"/>
            <a:ext cx="11201400" cy="609600"/>
          </a:xfrm>
          <a:prstGeom prst="rect">
            <a:avLst/>
          </a:prstGeom>
        </p:spPr>
        <p:txBody>
          <a:bodyPr anchor="t" rtlCol="false" tIns="0" lIns="0" bIns="0" rIns="0">
            <a:spAutoFit/>
          </a:bodyPr>
          <a:lstStyle/>
          <a:p>
            <a:pPr algn="ctr" marL="0" indent="0" lvl="0">
              <a:lnSpc>
                <a:spcPts val="4500"/>
              </a:lnSpc>
            </a:pPr>
            <a:r>
              <a:rPr lang="en-US" b="true" sz="4500" spc="-135">
                <a:solidFill>
                  <a:srgbClr val="FFFFFF"/>
                </a:solidFill>
                <a:latin typeface="DM Sans Bold"/>
                <a:ea typeface="DM Sans Bold"/>
                <a:cs typeface="DM Sans Bold"/>
                <a:sym typeface="DM Sans Bold"/>
              </a:rPr>
              <a:t>Project Abstract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00081" y="771517"/>
            <a:ext cx="15970139" cy="9734017"/>
            <a:chOff x="0" y="0"/>
            <a:chExt cx="4206127" cy="2563692"/>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4206127" cy="2563692"/>
            </a:xfrm>
            <a:custGeom>
              <a:avLst/>
              <a:gdLst/>
              <a:ahLst/>
              <a:cxnLst/>
              <a:rect r="r" b="b" t="t" l="l"/>
              <a:pathLst>
                <a:path h="2563692" w="4206127">
                  <a:moveTo>
                    <a:pt x="14543" y="0"/>
                  </a:moveTo>
                  <a:lnTo>
                    <a:pt x="4191584" y="0"/>
                  </a:lnTo>
                  <a:cubicBezTo>
                    <a:pt x="4199616" y="0"/>
                    <a:pt x="4206127" y="6511"/>
                    <a:pt x="4206127" y="14543"/>
                  </a:cubicBezTo>
                  <a:lnTo>
                    <a:pt x="4206127" y="2549148"/>
                  </a:lnTo>
                  <a:cubicBezTo>
                    <a:pt x="4206127" y="2553005"/>
                    <a:pt x="4204595" y="2556705"/>
                    <a:pt x="4201868" y="2559432"/>
                  </a:cubicBezTo>
                  <a:cubicBezTo>
                    <a:pt x="4199140" y="2562159"/>
                    <a:pt x="4195441" y="2563692"/>
                    <a:pt x="4191584" y="2563692"/>
                  </a:cubicBezTo>
                  <a:lnTo>
                    <a:pt x="14543" y="2563692"/>
                  </a:lnTo>
                  <a:cubicBezTo>
                    <a:pt x="10686" y="2563692"/>
                    <a:pt x="6987" y="2562159"/>
                    <a:pt x="4260" y="2559432"/>
                  </a:cubicBezTo>
                  <a:cubicBezTo>
                    <a:pt x="1532" y="2556705"/>
                    <a:pt x="0" y="2553005"/>
                    <a:pt x="0" y="2549148"/>
                  </a:cubicBezTo>
                  <a:lnTo>
                    <a:pt x="0" y="14543"/>
                  </a:lnTo>
                  <a:cubicBezTo>
                    <a:pt x="0" y="10686"/>
                    <a:pt x="1532" y="6987"/>
                    <a:pt x="4260" y="4260"/>
                  </a:cubicBezTo>
                  <a:cubicBezTo>
                    <a:pt x="6987" y="1532"/>
                    <a:pt x="10686" y="0"/>
                    <a:pt x="14543" y="0"/>
                  </a:cubicBezTo>
                  <a:close/>
                </a:path>
              </a:pathLst>
            </a:custGeom>
            <a:solidFill>
              <a:srgbClr val="0A3D62"/>
            </a:solidFill>
          </p:spPr>
        </p:sp>
        <p:sp>
          <p:nvSpPr>
            <p:cNvPr name="TextBox 4" id="4"/>
            <p:cNvSpPr txBox="true"/>
            <p:nvPr/>
          </p:nvSpPr>
          <p:spPr>
            <a:xfrm>
              <a:off x="0" y="-19050"/>
              <a:ext cx="4206127" cy="2582742"/>
            </a:xfrm>
            <a:prstGeom prst="rect">
              <a:avLst/>
            </a:prstGeom>
          </p:spPr>
          <p:txBody>
            <a:bodyPr anchor="ctr" rtlCol="false" tIns="50800" lIns="50800" bIns="50800" rIns="50800"/>
            <a:lstStyle/>
            <a:p>
              <a:pPr algn="ctr">
                <a:lnSpc>
                  <a:spcPts val="2500"/>
                </a:lnSpc>
              </a:pPr>
            </a:p>
          </p:txBody>
        </p:sp>
      </p:grpSp>
      <p:grpSp>
        <p:nvGrpSpPr>
          <p:cNvPr name="Group 5" id="5"/>
          <p:cNvGrpSpPr/>
          <p:nvPr/>
        </p:nvGrpSpPr>
        <p:grpSpPr>
          <a:xfrm rot="0">
            <a:off x="2889065" y="4201708"/>
            <a:ext cx="2607127" cy="941792"/>
            <a:chOff x="0" y="0"/>
            <a:chExt cx="3476169" cy="1255723"/>
          </a:xfrm>
        </p:grpSpPr>
        <p:grpSp>
          <p:nvGrpSpPr>
            <p:cNvPr name="Group 6" id="6"/>
            <p:cNvGrpSpPr/>
            <p:nvPr/>
          </p:nvGrpSpPr>
          <p:grpSpPr>
            <a:xfrm rot="0">
              <a:off x="0" y="452517"/>
              <a:ext cx="2997536" cy="803206"/>
              <a:chOff x="0" y="0"/>
              <a:chExt cx="677333" cy="181495"/>
            </a:xfrm>
          </p:grpSpPr>
          <p:sp>
            <p:nvSpPr>
              <p:cNvPr name="Freeform 7" id="7"/>
              <p:cNvSpPr/>
              <p:nvPr/>
            </p:nvSpPr>
            <p:spPr>
              <a:xfrm flipH="false" flipV="false" rot="0">
                <a:off x="0" y="0"/>
                <a:ext cx="677333" cy="181495"/>
              </a:xfrm>
              <a:custGeom>
                <a:avLst/>
                <a:gdLst/>
                <a:ahLst/>
                <a:cxnLst/>
                <a:rect r="r" b="b" t="t" l="l"/>
                <a:pathLst>
                  <a:path h="181495" w="677333">
                    <a:moveTo>
                      <a:pt x="90748" y="0"/>
                    </a:moveTo>
                    <a:lnTo>
                      <a:pt x="586586" y="0"/>
                    </a:lnTo>
                    <a:cubicBezTo>
                      <a:pt x="636704" y="0"/>
                      <a:pt x="677333" y="40629"/>
                      <a:pt x="677333" y="90748"/>
                    </a:cubicBezTo>
                    <a:lnTo>
                      <a:pt x="677333" y="90748"/>
                    </a:lnTo>
                    <a:cubicBezTo>
                      <a:pt x="677333" y="114815"/>
                      <a:pt x="667772" y="137897"/>
                      <a:pt x="650754" y="154916"/>
                    </a:cubicBezTo>
                    <a:cubicBezTo>
                      <a:pt x="633736" y="171934"/>
                      <a:pt x="610654" y="181495"/>
                      <a:pt x="586586" y="181495"/>
                    </a:cubicBezTo>
                    <a:lnTo>
                      <a:pt x="90748" y="181495"/>
                    </a:lnTo>
                    <a:cubicBezTo>
                      <a:pt x="66680" y="181495"/>
                      <a:pt x="43598" y="171934"/>
                      <a:pt x="26579" y="154916"/>
                    </a:cubicBezTo>
                    <a:cubicBezTo>
                      <a:pt x="9561" y="137897"/>
                      <a:pt x="0" y="114815"/>
                      <a:pt x="0" y="90748"/>
                    </a:cubicBezTo>
                    <a:lnTo>
                      <a:pt x="0" y="90748"/>
                    </a:lnTo>
                    <a:cubicBezTo>
                      <a:pt x="0" y="66680"/>
                      <a:pt x="9561" y="43598"/>
                      <a:pt x="26579" y="26579"/>
                    </a:cubicBezTo>
                    <a:cubicBezTo>
                      <a:pt x="43598" y="9561"/>
                      <a:pt x="66680" y="0"/>
                      <a:pt x="90748" y="0"/>
                    </a:cubicBezTo>
                    <a:close/>
                  </a:path>
                </a:pathLst>
              </a:custGeom>
              <a:solidFill>
                <a:srgbClr val="1E90FF"/>
              </a:solidFill>
            </p:spPr>
          </p:sp>
          <p:sp>
            <p:nvSpPr>
              <p:cNvPr name="TextBox 8" id="8"/>
              <p:cNvSpPr txBox="true"/>
              <p:nvPr/>
            </p:nvSpPr>
            <p:spPr>
              <a:xfrm>
                <a:off x="0" y="0"/>
                <a:ext cx="677333" cy="181495"/>
              </a:xfrm>
              <a:prstGeom prst="rect">
                <a:avLst/>
              </a:prstGeom>
            </p:spPr>
            <p:txBody>
              <a:bodyPr anchor="ctr" rtlCol="false" tIns="44408" lIns="44408" bIns="44408" rIns="44408"/>
              <a:lstStyle/>
              <a:p>
                <a:pPr algn="ctr">
                  <a:lnSpc>
                    <a:spcPts val="2879"/>
                  </a:lnSpc>
                </a:pPr>
              </a:p>
            </p:txBody>
          </p:sp>
        </p:grpSp>
        <p:sp>
          <p:nvSpPr>
            <p:cNvPr name="Freeform 9" id="9"/>
            <p:cNvSpPr/>
            <p:nvPr/>
          </p:nvSpPr>
          <p:spPr>
            <a:xfrm flipH="false" flipV="false" rot="-2700000">
              <a:off x="2906402" y="95255"/>
              <a:ext cx="468474" cy="480551"/>
            </a:xfrm>
            <a:custGeom>
              <a:avLst/>
              <a:gdLst/>
              <a:ahLst/>
              <a:cxnLst/>
              <a:rect r="r" b="b" t="t" l="l"/>
              <a:pathLst>
                <a:path h="480551" w="468474">
                  <a:moveTo>
                    <a:pt x="0" y="0"/>
                  </a:moveTo>
                  <a:lnTo>
                    <a:pt x="468473" y="0"/>
                  </a:lnTo>
                  <a:lnTo>
                    <a:pt x="468473" y="480551"/>
                  </a:lnTo>
                  <a:lnTo>
                    <a:pt x="0" y="4805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97602" y="606470"/>
              <a:ext cx="2602332" cy="495300"/>
            </a:xfrm>
            <a:prstGeom prst="rect">
              <a:avLst/>
            </a:prstGeom>
          </p:spPr>
          <p:txBody>
            <a:bodyPr anchor="t" rtlCol="false" tIns="0" lIns="0" bIns="0" rIns="0">
              <a:spAutoFit/>
            </a:bodyPr>
            <a:lstStyle/>
            <a:p>
              <a:pPr algn="ctr" marL="0" indent="0" lvl="0">
                <a:lnSpc>
                  <a:spcPts val="2999"/>
                </a:lnSpc>
                <a:spcBef>
                  <a:spcPct val="0"/>
                </a:spcBef>
              </a:pPr>
              <a:r>
                <a:rPr lang="en-US" sz="2499">
                  <a:solidFill>
                    <a:srgbClr val="0A3D62"/>
                  </a:solidFill>
                  <a:latin typeface="DM Sans"/>
                  <a:ea typeface="DM Sans"/>
                  <a:cs typeface="DM Sans"/>
                  <a:sym typeface="DM Sans"/>
                </a:rPr>
                <a:t>Team Lead</a:t>
              </a:r>
            </a:p>
          </p:txBody>
        </p:sp>
      </p:grpSp>
      <p:sp>
        <p:nvSpPr>
          <p:cNvPr name="Freeform 11" id="11"/>
          <p:cNvSpPr/>
          <p:nvPr/>
        </p:nvSpPr>
        <p:spPr>
          <a:xfrm flipH="false" flipV="false" rot="0">
            <a:off x="5496192" y="3712474"/>
            <a:ext cx="627908" cy="629052"/>
          </a:xfrm>
          <a:custGeom>
            <a:avLst/>
            <a:gdLst/>
            <a:ahLst/>
            <a:cxnLst/>
            <a:rect r="r" b="b" t="t" l="l"/>
            <a:pathLst>
              <a:path h="629052" w="627908">
                <a:moveTo>
                  <a:pt x="0" y="0"/>
                </a:moveTo>
                <a:lnTo>
                  <a:pt x="627908" y="0"/>
                </a:lnTo>
                <a:lnTo>
                  <a:pt x="627908" y="629052"/>
                </a:lnTo>
                <a:lnTo>
                  <a:pt x="0" y="6290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5496192" y="5324013"/>
            <a:ext cx="627908" cy="629052"/>
          </a:xfrm>
          <a:custGeom>
            <a:avLst/>
            <a:gdLst/>
            <a:ahLst/>
            <a:cxnLst/>
            <a:rect r="r" b="b" t="t" l="l"/>
            <a:pathLst>
              <a:path h="629052" w="627908">
                <a:moveTo>
                  <a:pt x="0" y="0"/>
                </a:moveTo>
                <a:lnTo>
                  <a:pt x="627908" y="0"/>
                </a:lnTo>
                <a:lnTo>
                  <a:pt x="627908" y="629052"/>
                </a:lnTo>
                <a:lnTo>
                  <a:pt x="0" y="6290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3982883" y="1738685"/>
            <a:ext cx="10995650" cy="1209675"/>
          </a:xfrm>
          <a:prstGeom prst="rect">
            <a:avLst/>
          </a:prstGeom>
        </p:spPr>
        <p:txBody>
          <a:bodyPr anchor="t" rtlCol="false" tIns="0" lIns="0" bIns="0" rIns="0">
            <a:spAutoFit/>
          </a:bodyPr>
          <a:lstStyle/>
          <a:p>
            <a:pPr algn="l" marL="0" indent="0" lvl="0">
              <a:lnSpc>
                <a:spcPts val="9000"/>
              </a:lnSpc>
            </a:pPr>
            <a:r>
              <a:rPr lang="en-US" sz="9000" spc="-270">
                <a:solidFill>
                  <a:srgbClr val="FFFFFF"/>
                </a:solidFill>
                <a:latin typeface="DM Sans"/>
                <a:ea typeface="DM Sans"/>
                <a:cs typeface="DM Sans"/>
                <a:sym typeface="DM Sans"/>
              </a:rPr>
              <a:t>Team Overview</a:t>
            </a:r>
          </a:p>
        </p:txBody>
      </p:sp>
      <p:sp>
        <p:nvSpPr>
          <p:cNvPr name="TextBox 14" id="14"/>
          <p:cNvSpPr txBox="true"/>
          <p:nvPr/>
        </p:nvSpPr>
        <p:spPr>
          <a:xfrm rot="0">
            <a:off x="6409503" y="3674561"/>
            <a:ext cx="10849797" cy="695325"/>
          </a:xfrm>
          <a:prstGeom prst="rect">
            <a:avLst/>
          </a:prstGeom>
        </p:spPr>
        <p:txBody>
          <a:bodyPr anchor="t" rtlCol="false" tIns="0" lIns="0" bIns="0" rIns="0">
            <a:spAutoFit/>
          </a:bodyPr>
          <a:lstStyle/>
          <a:p>
            <a:pPr algn="l" marL="0" indent="0" lvl="0">
              <a:lnSpc>
                <a:spcPts val="5400"/>
              </a:lnSpc>
            </a:pPr>
            <a:r>
              <a:rPr lang="en-US" sz="4500">
                <a:solidFill>
                  <a:srgbClr val="FFFFFF"/>
                </a:solidFill>
                <a:latin typeface="DM Sans"/>
                <a:ea typeface="DM Sans"/>
                <a:cs typeface="DM Sans"/>
                <a:sym typeface="DM Sans"/>
              </a:rPr>
              <a:t>M. Naga Chaitanya Reddy (22HT1A0593)</a:t>
            </a:r>
          </a:p>
        </p:txBody>
      </p:sp>
      <p:sp>
        <p:nvSpPr>
          <p:cNvPr name="TextBox 15" id="15"/>
          <p:cNvSpPr txBox="true"/>
          <p:nvPr/>
        </p:nvSpPr>
        <p:spPr>
          <a:xfrm rot="0">
            <a:off x="6409503" y="5286100"/>
            <a:ext cx="9773472" cy="695325"/>
          </a:xfrm>
          <a:prstGeom prst="rect">
            <a:avLst/>
          </a:prstGeom>
        </p:spPr>
        <p:txBody>
          <a:bodyPr anchor="t" rtlCol="false" tIns="0" lIns="0" bIns="0" rIns="0">
            <a:spAutoFit/>
          </a:bodyPr>
          <a:lstStyle/>
          <a:p>
            <a:pPr algn="l" marL="0" indent="0" lvl="0">
              <a:lnSpc>
                <a:spcPts val="5400"/>
              </a:lnSpc>
              <a:spcBef>
                <a:spcPct val="0"/>
              </a:spcBef>
            </a:pPr>
            <a:r>
              <a:rPr lang="en-US" sz="4500">
                <a:solidFill>
                  <a:srgbClr val="FFFFFF"/>
                </a:solidFill>
                <a:latin typeface="DM Sans"/>
                <a:ea typeface="DM Sans"/>
                <a:cs typeface="DM Sans"/>
                <a:sym typeface="DM Sans"/>
              </a:rPr>
              <a:t>K. Himabindu (22HT1A0576)</a:t>
            </a:r>
          </a:p>
        </p:txBody>
      </p:sp>
      <p:sp>
        <p:nvSpPr>
          <p:cNvPr name="TextBox 16" id="16"/>
          <p:cNvSpPr txBox="true"/>
          <p:nvPr/>
        </p:nvSpPr>
        <p:spPr>
          <a:xfrm rot="0">
            <a:off x="6409503" y="6905377"/>
            <a:ext cx="10849797" cy="695325"/>
          </a:xfrm>
          <a:prstGeom prst="rect">
            <a:avLst/>
          </a:prstGeom>
        </p:spPr>
        <p:txBody>
          <a:bodyPr anchor="t" rtlCol="false" tIns="0" lIns="0" bIns="0" rIns="0">
            <a:spAutoFit/>
          </a:bodyPr>
          <a:lstStyle/>
          <a:p>
            <a:pPr algn="l" marL="0" indent="0" lvl="0">
              <a:lnSpc>
                <a:spcPts val="5400"/>
              </a:lnSpc>
              <a:spcBef>
                <a:spcPct val="0"/>
              </a:spcBef>
            </a:pPr>
            <a:r>
              <a:rPr lang="en-US" sz="4500">
                <a:solidFill>
                  <a:srgbClr val="FFFFFF"/>
                </a:solidFill>
                <a:latin typeface="DM Sans"/>
                <a:ea typeface="DM Sans"/>
                <a:cs typeface="DM Sans"/>
                <a:sym typeface="DM Sans"/>
              </a:rPr>
              <a:t>N. Harsha Vardhan Rao (22HT1A05A4)</a:t>
            </a:r>
          </a:p>
        </p:txBody>
      </p:sp>
      <p:sp>
        <p:nvSpPr>
          <p:cNvPr name="TextBox 17" id="17"/>
          <p:cNvSpPr txBox="true"/>
          <p:nvPr/>
        </p:nvSpPr>
        <p:spPr>
          <a:xfrm rot="0">
            <a:off x="6409503" y="8520785"/>
            <a:ext cx="9773472" cy="695325"/>
          </a:xfrm>
          <a:prstGeom prst="rect">
            <a:avLst/>
          </a:prstGeom>
        </p:spPr>
        <p:txBody>
          <a:bodyPr anchor="t" rtlCol="false" tIns="0" lIns="0" bIns="0" rIns="0">
            <a:spAutoFit/>
          </a:bodyPr>
          <a:lstStyle/>
          <a:p>
            <a:pPr algn="l" marL="0" indent="0" lvl="0">
              <a:lnSpc>
                <a:spcPts val="5400"/>
              </a:lnSpc>
              <a:spcBef>
                <a:spcPct val="0"/>
              </a:spcBef>
            </a:pPr>
            <a:r>
              <a:rPr lang="en-US" sz="4500">
                <a:solidFill>
                  <a:srgbClr val="FFFFFF"/>
                </a:solidFill>
                <a:latin typeface="DM Sans"/>
                <a:ea typeface="DM Sans"/>
                <a:cs typeface="DM Sans"/>
                <a:sym typeface="DM Sans"/>
              </a:rPr>
              <a:t>P. Bunny (22HT1A05B2)</a:t>
            </a:r>
          </a:p>
        </p:txBody>
      </p:sp>
      <p:sp>
        <p:nvSpPr>
          <p:cNvPr name="Freeform 18" id="18"/>
          <p:cNvSpPr/>
          <p:nvPr/>
        </p:nvSpPr>
        <p:spPr>
          <a:xfrm flipH="false" flipV="false" rot="0">
            <a:off x="5496192" y="6935552"/>
            <a:ext cx="627908" cy="629052"/>
          </a:xfrm>
          <a:custGeom>
            <a:avLst/>
            <a:gdLst/>
            <a:ahLst/>
            <a:cxnLst/>
            <a:rect r="r" b="b" t="t" l="l"/>
            <a:pathLst>
              <a:path h="629052" w="627908">
                <a:moveTo>
                  <a:pt x="0" y="0"/>
                </a:moveTo>
                <a:lnTo>
                  <a:pt x="627908" y="0"/>
                </a:lnTo>
                <a:lnTo>
                  <a:pt x="627908" y="629052"/>
                </a:lnTo>
                <a:lnTo>
                  <a:pt x="0" y="6290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5496192" y="8547091"/>
            <a:ext cx="627908" cy="629052"/>
          </a:xfrm>
          <a:custGeom>
            <a:avLst/>
            <a:gdLst/>
            <a:ahLst/>
            <a:cxnLst/>
            <a:rect r="r" b="b" t="t" l="l"/>
            <a:pathLst>
              <a:path h="629052" w="627908">
                <a:moveTo>
                  <a:pt x="0" y="0"/>
                </a:moveTo>
                <a:lnTo>
                  <a:pt x="627908" y="0"/>
                </a:lnTo>
                <a:lnTo>
                  <a:pt x="627908" y="629052"/>
                </a:lnTo>
                <a:lnTo>
                  <a:pt x="0" y="6290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105025" y="3896942"/>
            <a:ext cx="14077950" cy="2333625"/>
          </a:xfrm>
          <a:prstGeom prst="rect">
            <a:avLst/>
          </a:prstGeom>
        </p:spPr>
        <p:txBody>
          <a:bodyPr anchor="t" rtlCol="false" tIns="0" lIns="0" bIns="0" rIns="0">
            <a:spAutoFit/>
          </a:bodyPr>
          <a:lstStyle/>
          <a:p>
            <a:pPr algn="ctr" marL="0" indent="0" lvl="0">
              <a:lnSpc>
                <a:spcPts val="6000"/>
              </a:lnSpc>
            </a:pPr>
            <a:r>
              <a:rPr lang="en-US" sz="6000" spc="-180">
                <a:solidFill>
                  <a:srgbClr val="0A3D62"/>
                </a:solidFill>
                <a:latin typeface="DM Sans"/>
                <a:ea typeface="DM Sans"/>
                <a:cs typeface="DM Sans"/>
                <a:sym typeface="DM Sans"/>
              </a:rPr>
              <a:t>Road accidents caused by driver fatigue are a </a:t>
            </a:r>
            <a:r>
              <a:rPr lang="en-US" b="true" sz="6000" spc="-180">
                <a:solidFill>
                  <a:srgbClr val="0A3D62"/>
                </a:solidFill>
                <a:latin typeface="DM Sans Bold"/>
                <a:ea typeface="DM Sans Bold"/>
                <a:cs typeface="DM Sans Bold"/>
                <a:sym typeface="DM Sans Bold"/>
              </a:rPr>
              <a:t>critical issue</a:t>
            </a:r>
            <a:r>
              <a:rPr lang="en-US" sz="6000" spc="-180">
                <a:solidFill>
                  <a:srgbClr val="0A3D62"/>
                </a:solidFill>
                <a:latin typeface="DM Sans"/>
                <a:ea typeface="DM Sans"/>
                <a:cs typeface="DM Sans"/>
                <a:sym typeface="DM Sans"/>
              </a:rPr>
              <a:t> that necessitates real-time monitoring and detection systems.</a:t>
            </a:r>
          </a:p>
        </p:txBody>
      </p:sp>
      <p:sp>
        <p:nvSpPr>
          <p:cNvPr name="TextBox 3" id="3"/>
          <p:cNvSpPr txBox="true"/>
          <p:nvPr/>
        </p:nvSpPr>
        <p:spPr>
          <a:xfrm rot="0">
            <a:off x="3543300" y="1638300"/>
            <a:ext cx="11201400" cy="609600"/>
          </a:xfrm>
          <a:prstGeom prst="rect">
            <a:avLst/>
          </a:prstGeom>
        </p:spPr>
        <p:txBody>
          <a:bodyPr anchor="t" rtlCol="false" tIns="0" lIns="0" bIns="0" rIns="0">
            <a:spAutoFit/>
          </a:bodyPr>
          <a:lstStyle/>
          <a:p>
            <a:pPr algn="ctr" marL="0" indent="0" lvl="0">
              <a:lnSpc>
                <a:spcPts val="4500"/>
              </a:lnSpc>
            </a:pPr>
            <a:r>
              <a:rPr lang="en-US" b="true" sz="4500" spc="-135">
                <a:solidFill>
                  <a:srgbClr val="0A3D62"/>
                </a:solidFill>
                <a:latin typeface="DM Sans Bold"/>
                <a:ea typeface="DM Sans Bold"/>
                <a:cs typeface="DM Sans Bold"/>
                <a:sym typeface="DM Sans Bold"/>
              </a:rPr>
              <a:t>Introduction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3D62"/>
        </a:solidFill>
      </p:bgPr>
    </p:bg>
    <p:spTree>
      <p:nvGrpSpPr>
        <p:cNvPr id="1" name=""/>
        <p:cNvGrpSpPr/>
        <p:nvPr/>
      </p:nvGrpSpPr>
      <p:grpSpPr>
        <a:xfrm>
          <a:off x="0" y="0"/>
          <a:ext cx="0" cy="0"/>
          <a:chOff x="0" y="0"/>
          <a:chExt cx="0" cy="0"/>
        </a:xfrm>
      </p:grpSpPr>
      <p:grpSp>
        <p:nvGrpSpPr>
          <p:cNvPr name="Group 2" id="2"/>
          <p:cNvGrpSpPr/>
          <p:nvPr/>
        </p:nvGrpSpPr>
        <p:grpSpPr>
          <a:xfrm rot="0">
            <a:off x="7865581" y="578334"/>
            <a:ext cx="9621783" cy="4425067"/>
            <a:chOff x="0" y="0"/>
            <a:chExt cx="2534132" cy="1165450"/>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2534132" cy="1165450"/>
            </a:xfrm>
            <a:custGeom>
              <a:avLst/>
              <a:gdLst/>
              <a:ahLst/>
              <a:cxnLst/>
              <a:rect r="r" b="b" t="t" l="l"/>
              <a:pathLst>
                <a:path h="1165450" w="2534132">
                  <a:moveTo>
                    <a:pt x="14483" y="0"/>
                  </a:moveTo>
                  <a:lnTo>
                    <a:pt x="2519649" y="0"/>
                  </a:lnTo>
                  <a:cubicBezTo>
                    <a:pt x="2523490" y="0"/>
                    <a:pt x="2527174" y="1526"/>
                    <a:pt x="2529890" y="4242"/>
                  </a:cubicBezTo>
                  <a:cubicBezTo>
                    <a:pt x="2532606" y="6958"/>
                    <a:pt x="2534132" y="10642"/>
                    <a:pt x="2534132" y="14483"/>
                  </a:cubicBezTo>
                  <a:lnTo>
                    <a:pt x="2534132" y="1150967"/>
                  </a:lnTo>
                  <a:cubicBezTo>
                    <a:pt x="2534132" y="1158965"/>
                    <a:pt x="2527648" y="1165450"/>
                    <a:pt x="2519649" y="1165450"/>
                  </a:cubicBezTo>
                  <a:lnTo>
                    <a:pt x="14483" y="1165450"/>
                  </a:lnTo>
                  <a:cubicBezTo>
                    <a:pt x="10642" y="1165450"/>
                    <a:pt x="6958" y="1163924"/>
                    <a:pt x="4242" y="1161208"/>
                  </a:cubicBezTo>
                  <a:cubicBezTo>
                    <a:pt x="1526" y="1158492"/>
                    <a:pt x="0" y="1154808"/>
                    <a:pt x="0" y="1150967"/>
                  </a:cubicBezTo>
                  <a:lnTo>
                    <a:pt x="0" y="14483"/>
                  </a:lnTo>
                  <a:cubicBezTo>
                    <a:pt x="0" y="10642"/>
                    <a:pt x="1526" y="6958"/>
                    <a:pt x="4242" y="4242"/>
                  </a:cubicBezTo>
                  <a:cubicBezTo>
                    <a:pt x="6958" y="1526"/>
                    <a:pt x="10642" y="0"/>
                    <a:pt x="14483" y="0"/>
                  </a:cubicBezTo>
                  <a:close/>
                </a:path>
              </a:pathLst>
            </a:custGeom>
            <a:solidFill>
              <a:srgbClr val="FFFFFF"/>
            </a:solidFill>
          </p:spPr>
        </p:sp>
        <p:sp>
          <p:nvSpPr>
            <p:cNvPr name="TextBox 4" id="4"/>
            <p:cNvSpPr txBox="true"/>
            <p:nvPr/>
          </p:nvSpPr>
          <p:spPr>
            <a:xfrm>
              <a:off x="0" y="-38100"/>
              <a:ext cx="2534132" cy="12035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865581" y="5290433"/>
            <a:ext cx="9621783" cy="4425067"/>
            <a:chOff x="0" y="0"/>
            <a:chExt cx="2534132" cy="1165450"/>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2534132" cy="1165450"/>
            </a:xfrm>
            <a:custGeom>
              <a:avLst/>
              <a:gdLst/>
              <a:ahLst/>
              <a:cxnLst/>
              <a:rect r="r" b="b" t="t" l="l"/>
              <a:pathLst>
                <a:path h="1165450" w="2534132">
                  <a:moveTo>
                    <a:pt x="14483" y="0"/>
                  </a:moveTo>
                  <a:lnTo>
                    <a:pt x="2519649" y="0"/>
                  </a:lnTo>
                  <a:cubicBezTo>
                    <a:pt x="2523490" y="0"/>
                    <a:pt x="2527174" y="1526"/>
                    <a:pt x="2529890" y="4242"/>
                  </a:cubicBezTo>
                  <a:cubicBezTo>
                    <a:pt x="2532606" y="6958"/>
                    <a:pt x="2534132" y="10642"/>
                    <a:pt x="2534132" y="14483"/>
                  </a:cubicBezTo>
                  <a:lnTo>
                    <a:pt x="2534132" y="1150967"/>
                  </a:lnTo>
                  <a:cubicBezTo>
                    <a:pt x="2534132" y="1158965"/>
                    <a:pt x="2527648" y="1165450"/>
                    <a:pt x="2519649" y="1165450"/>
                  </a:cubicBezTo>
                  <a:lnTo>
                    <a:pt x="14483" y="1165450"/>
                  </a:lnTo>
                  <a:cubicBezTo>
                    <a:pt x="10642" y="1165450"/>
                    <a:pt x="6958" y="1163924"/>
                    <a:pt x="4242" y="1161208"/>
                  </a:cubicBezTo>
                  <a:cubicBezTo>
                    <a:pt x="1526" y="1158492"/>
                    <a:pt x="0" y="1154808"/>
                    <a:pt x="0" y="1150967"/>
                  </a:cubicBezTo>
                  <a:lnTo>
                    <a:pt x="0" y="14483"/>
                  </a:lnTo>
                  <a:cubicBezTo>
                    <a:pt x="0" y="10642"/>
                    <a:pt x="1526" y="6958"/>
                    <a:pt x="4242" y="4242"/>
                  </a:cubicBezTo>
                  <a:cubicBezTo>
                    <a:pt x="6958" y="1526"/>
                    <a:pt x="10642" y="0"/>
                    <a:pt x="14483" y="0"/>
                  </a:cubicBezTo>
                  <a:close/>
                </a:path>
              </a:pathLst>
            </a:custGeom>
            <a:solidFill>
              <a:srgbClr val="FFFFFF"/>
            </a:solidFill>
          </p:spPr>
        </p:sp>
        <p:sp>
          <p:nvSpPr>
            <p:cNvPr name="TextBox 7" id="7"/>
            <p:cNvSpPr txBox="true"/>
            <p:nvPr/>
          </p:nvSpPr>
          <p:spPr>
            <a:xfrm>
              <a:off x="0" y="-38100"/>
              <a:ext cx="2534132" cy="1203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172950" y="1028700"/>
            <a:ext cx="4924589" cy="3320734"/>
            <a:chOff x="0" y="0"/>
            <a:chExt cx="762948" cy="514469"/>
          </a:xfrm>
        </p:grpSpPr>
        <p:sp>
          <p:nvSpPr>
            <p:cNvPr name="Freeform 9" id="9"/>
            <p:cNvSpPr/>
            <p:nvPr/>
          </p:nvSpPr>
          <p:spPr>
            <a:xfrm flipH="false" flipV="false" rot="0">
              <a:off x="0" y="0"/>
              <a:ext cx="762948" cy="514469"/>
            </a:xfrm>
            <a:custGeom>
              <a:avLst/>
              <a:gdLst/>
              <a:ahLst/>
              <a:cxnLst/>
              <a:rect r="r" b="b" t="t" l="l"/>
              <a:pathLst>
                <a:path h="514469" w="762948">
                  <a:moveTo>
                    <a:pt x="25154" y="0"/>
                  </a:moveTo>
                  <a:lnTo>
                    <a:pt x="737794" y="0"/>
                  </a:lnTo>
                  <a:cubicBezTo>
                    <a:pt x="751686" y="0"/>
                    <a:pt x="762948" y="11262"/>
                    <a:pt x="762948" y="25154"/>
                  </a:cubicBezTo>
                  <a:lnTo>
                    <a:pt x="762948" y="489315"/>
                  </a:lnTo>
                  <a:cubicBezTo>
                    <a:pt x="762948" y="503207"/>
                    <a:pt x="751686" y="514469"/>
                    <a:pt x="737794" y="514469"/>
                  </a:cubicBezTo>
                  <a:lnTo>
                    <a:pt x="25154" y="514469"/>
                  </a:lnTo>
                  <a:cubicBezTo>
                    <a:pt x="11262" y="514469"/>
                    <a:pt x="0" y="503207"/>
                    <a:pt x="0" y="489315"/>
                  </a:cubicBezTo>
                  <a:lnTo>
                    <a:pt x="0" y="25154"/>
                  </a:lnTo>
                  <a:cubicBezTo>
                    <a:pt x="0" y="11262"/>
                    <a:pt x="11262" y="0"/>
                    <a:pt x="25154" y="0"/>
                  </a:cubicBezTo>
                  <a:close/>
                </a:path>
              </a:pathLst>
            </a:custGeom>
            <a:blipFill>
              <a:blip r:embed="rId2"/>
              <a:stretch>
                <a:fillRect l="-42" t="0" r="-42" b="0"/>
              </a:stretch>
            </a:blipFill>
          </p:spPr>
        </p:sp>
      </p:grpSp>
      <p:grpSp>
        <p:nvGrpSpPr>
          <p:cNvPr name="Group 10" id="10"/>
          <p:cNvGrpSpPr/>
          <p:nvPr/>
        </p:nvGrpSpPr>
        <p:grpSpPr>
          <a:xfrm rot="0">
            <a:off x="12172950" y="5778677"/>
            <a:ext cx="4924589" cy="3320734"/>
            <a:chOff x="0" y="0"/>
            <a:chExt cx="762948" cy="514469"/>
          </a:xfrm>
        </p:grpSpPr>
        <p:sp>
          <p:nvSpPr>
            <p:cNvPr name="Freeform 11" id="11"/>
            <p:cNvSpPr/>
            <p:nvPr/>
          </p:nvSpPr>
          <p:spPr>
            <a:xfrm flipH="false" flipV="false" rot="0">
              <a:off x="0" y="0"/>
              <a:ext cx="762948" cy="514469"/>
            </a:xfrm>
            <a:custGeom>
              <a:avLst/>
              <a:gdLst/>
              <a:ahLst/>
              <a:cxnLst/>
              <a:rect r="r" b="b" t="t" l="l"/>
              <a:pathLst>
                <a:path h="514469" w="762948">
                  <a:moveTo>
                    <a:pt x="25154" y="0"/>
                  </a:moveTo>
                  <a:lnTo>
                    <a:pt x="737794" y="0"/>
                  </a:lnTo>
                  <a:cubicBezTo>
                    <a:pt x="751686" y="0"/>
                    <a:pt x="762948" y="11262"/>
                    <a:pt x="762948" y="25154"/>
                  </a:cubicBezTo>
                  <a:lnTo>
                    <a:pt x="762948" y="489315"/>
                  </a:lnTo>
                  <a:cubicBezTo>
                    <a:pt x="762948" y="503207"/>
                    <a:pt x="751686" y="514469"/>
                    <a:pt x="737794" y="514469"/>
                  </a:cubicBezTo>
                  <a:lnTo>
                    <a:pt x="25154" y="514469"/>
                  </a:lnTo>
                  <a:cubicBezTo>
                    <a:pt x="11262" y="514469"/>
                    <a:pt x="0" y="503207"/>
                    <a:pt x="0" y="489315"/>
                  </a:cubicBezTo>
                  <a:lnTo>
                    <a:pt x="0" y="25154"/>
                  </a:lnTo>
                  <a:cubicBezTo>
                    <a:pt x="0" y="11262"/>
                    <a:pt x="11262" y="0"/>
                    <a:pt x="25154" y="0"/>
                  </a:cubicBezTo>
                  <a:close/>
                </a:path>
              </a:pathLst>
            </a:custGeom>
            <a:blipFill>
              <a:blip r:embed="rId3"/>
              <a:stretch>
                <a:fillRect l="-42" t="0" r="-42" b="0"/>
              </a:stretch>
            </a:blipFill>
          </p:spPr>
        </p:sp>
      </p:grpSp>
      <p:sp>
        <p:nvSpPr>
          <p:cNvPr name="TextBox 12" id="12"/>
          <p:cNvSpPr txBox="true"/>
          <p:nvPr/>
        </p:nvSpPr>
        <p:spPr>
          <a:xfrm rot="0">
            <a:off x="590906" y="740259"/>
            <a:ext cx="5828944" cy="3495675"/>
          </a:xfrm>
          <a:prstGeom prst="rect">
            <a:avLst/>
          </a:prstGeom>
        </p:spPr>
        <p:txBody>
          <a:bodyPr anchor="t" rtlCol="false" tIns="0" lIns="0" bIns="0" rIns="0">
            <a:spAutoFit/>
          </a:bodyPr>
          <a:lstStyle/>
          <a:p>
            <a:pPr algn="l" marL="0" indent="0" lvl="0">
              <a:lnSpc>
                <a:spcPts val="9000"/>
              </a:lnSpc>
            </a:pPr>
            <a:r>
              <a:rPr lang="en-US" sz="9000" spc="-270">
                <a:solidFill>
                  <a:srgbClr val="FFFFFF"/>
                </a:solidFill>
                <a:latin typeface="DM Sans"/>
                <a:ea typeface="DM Sans"/>
                <a:cs typeface="DM Sans"/>
                <a:sym typeface="DM Sans"/>
              </a:rPr>
              <a:t>Existing System Limitations</a:t>
            </a:r>
          </a:p>
        </p:txBody>
      </p:sp>
      <p:grpSp>
        <p:nvGrpSpPr>
          <p:cNvPr name="Group 13" id="13"/>
          <p:cNvGrpSpPr/>
          <p:nvPr/>
        </p:nvGrpSpPr>
        <p:grpSpPr>
          <a:xfrm rot="0">
            <a:off x="8324227" y="1028700"/>
            <a:ext cx="3543923" cy="1796916"/>
            <a:chOff x="0" y="0"/>
            <a:chExt cx="4725230" cy="2395888"/>
          </a:xfrm>
        </p:grpSpPr>
        <p:sp>
          <p:nvSpPr>
            <p:cNvPr name="TextBox 14" id="14"/>
            <p:cNvSpPr txBox="true"/>
            <p:nvPr/>
          </p:nvSpPr>
          <p:spPr>
            <a:xfrm rot="0">
              <a:off x="0" y="76200"/>
              <a:ext cx="4725230" cy="777240"/>
            </a:xfrm>
            <a:prstGeom prst="rect">
              <a:avLst/>
            </a:prstGeom>
          </p:spPr>
          <p:txBody>
            <a:bodyPr anchor="t" rtlCol="false" tIns="0" lIns="0" bIns="0" rIns="0">
              <a:spAutoFit/>
            </a:bodyPr>
            <a:lstStyle/>
            <a:p>
              <a:pPr algn="l" marL="0" indent="0" lvl="0">
                <a:lnSpc>
                  <a:spcPts val="4200"/>
                </a:lnSpc>
              </a:pPr>
              <a:r>
                <a:rPr lang="en-US" sz="4200" spc="-126">
                  <a:solidFill>
                    <a:srgbClr val="0A3D62"/>
                  </a:solidFill>
                  <a:latin typeface="DM Sans"/>
                  <a:ea typeface="DM Sans"/>
                  <a:cs typeface="DM Sans"/>
                  <a:sym typeface="DM Sans"/>
                </a:rPr>
                <a:t>GPS Tracking</a:t>
              </a:r>
            </a:p>
          </p:txBody>
        </p:sp>
        <p:sp>
          <p:nvSpPr>
            <p:cNvPr name="TextBox 15" id="15"/>
            <p:cNvSpPr txBox="true"/>
            <p:nvPr/>
          </p:nvSpPr>
          <p:spPr>
            <a:xfrm rot="0">
              <a:off x="0" y="1167163"/>
              <a:ext cx="4725230" cy="1228725"/>
            </a:xfrm>
            <a:prstGeom prst="rect">
              <a:avLst/>
            </a:prstGeom>
          </p:spPr>
          <p:txBody>
            <a:bodyPr anchor="t" rtlCol="false" tIns="0" lIns="0" bIns="0" rIns="0">
              <a:spAutoFit/>
            </a:bodyPr>
            <a:lstStyle/>
            <a:p>
              <a:pPr algn="l" marL="0" indent="0" lvl="0">
                <a:lnSpc>
                  <a:spcPts val="2400"/>
                </a:lnSpc>
              </a:pPr>
              <a:r>
                <a:rPr lang="en-US" sz="2000" strike="noStrike" u="none">
                  <a:solidFill>
                    <a:srgbClr val="0A3D62"/>
                  </a:solidFill>
                  <a:latin typeface="DM Sans"/>
                  <a:ea typeface="DM Sans"/>
                  <a:cs typeface="DM Sans"/>
                  <a:sym typeface="DM Sans"/>
                </a:rPr>
                <a:t>Relies on location data but lacks drowsiness monitoring capability.</a:t>
              </a:r>
            </a:p>
          </p:txBody>
        </p:sp>
      </p:grpSp>
      <p:grpSp>
        <p:nvGrpSpPr>
          <p:cNvPr name="Group 16" id="16"/>
          <p:cNvGrpSpPr/>
          <p:nvPr/>
        </p:nvGrpSpPr>
        <p:grpSpPr>
          <a:xfrm rot="0">
            <a:off x="8324227" y="5778677"/>
            <a:ext cx="3543923" cy="2329802"/>
            <a:chOff x="0" y="0"/>
            <a:chExt cx="4725230" cy="3106403"/>
          </a:xfrm>
        </p:grpSpPr>
        <p:sp>
          <p:nvSpPr>
            <p:cNvPr name="TextBox 17" id="17"/>
            <p:cNvSpPr txBox="true"/>
            <p:nvPr/>
          </p:nvSpPr>
          <p:spPr>
            <a:xfrm rot="0">
              <a:off x="0" y="76200"/>
              <a:ext cx="4725230" cy="1488440"/>
            </a:xfrm>
            <a:prstGeom prst="rect">
              <a:avLst/>
            </a:prstGeom>
          </p:spPr>
          <p:txBody>
            <a:bodyPr anchor="t" rtlCol="false" tIns="0" lIns="0" bIns="0" rIns="0">
              <a:spAutoFit/>
            </a:bodyPr>
            <a:lstStyle/>
            <a:p>
              <a:pPr algn="l" marL="0" indent="0" lvl="0">
                <a:lnSpc>
                  <a:spcPts val="4200"/>
                </a:lnSpc>
              </a:pPr>
              <a:r>
                <a:rPr lang="en-US" sz="4200" spc="-126">
                  <a:solidFill>
                    <a:srgbClr val="0A3D62"/>
                  </a:solidFill>
                  <a:latin typeface="DM Sans"/>
                  <a:ea typeface="DM Sans"/>
                  <a:cs typeface="DM Sans"/>
                  <a:sym typeface="DM Sans"/>
                </a:rPr>
                <a:t>Accelerometer Use</a:t>
              </a:r>
            </a:p>
          </p:txBody>
        </p:sp>
        <p:sp>
          <p:nvSpPr>
            <p:cNvPr name="TextBox 18" id="18"/>
            <p:cNvSpPr txBox="true"/>
            <p:nvPr/>
          </p:nvSpPr>
          <p:spPr>
            <a:xfrm rot="0">
              <a:off x="0" y="1877678"/>
              <a:ext cx="4725230" cy="1228725"/>
            </a:xfrm>
            <a:prstGeom prst="rect">
              <a:avLst/>
            </a:prstGeom>
          </p:spPr>
          <p:txBody>
            <a:bodyPr anchor="t" rtlCol="false" tIns="0" lIns="0" bIns="0" rIns="0">
              <a:spAutoFit/>
            </a:bodyPr>
            <a:lstStyle/>
            <a:p>
              <a:pPr algn="l" marL="0" indent="0" lvl="0">
                <a:lnSpc>
                  <a:spcPts val="2400"/>
                </a:lnSpc>
              </a:pPr>
              <a:r>
                <a:rPr lang="en-US" sz="2000" strike="noStrike" u="none">
                  <a:solidFill>
                    <a:srgbClr val="0A3D62"/>
                  </a:solidFill>
                  <a:latin typeface="DM Sans"/>
                  <a:ea typeface="DM Sans"/>
                  <a:cs typeface="DM Sans"/>
                  <a:sym typeface="DM Sans"/>
                </a:rPr>
                <a:t>Measures motion but does not provide driver fatigue detection.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3D62"/>
        </a:solidFill>
      </p:bgPr>
    </p:bg>
    <p:spTree>
      <p:nvGrpSpPr>
        <p:cNvPr id="1" name=""/>
        <p:cNvGrpSpPr/>
        <p:nvPr/>
      </p:nvGrpSpPr>
      <p:grpSpPr>
        <a:xfrm>
          <a:off x="0" y="0"/>
          <a:ext cx="0" cy="0"/>
          <a:chOff x="0" y="0"/>
          <a:chExt cx="0" cy="0"/>
        </a:xfrm>
      </p:grpSpPr>
      <p:grpSp>
        <p:nvGrpSpPr>
          <p:cNvPr name="Group 2" id="2"/>
          <p:cNvGrpSpPr/>
          <p:nvPr/>
        </p:nvGrpSpPr>
        <p:grpSpPr>
          <a:xfrm rot="0">
            <a:off x="8295703" y="578334"/>
            <a:ext cx="9621783" cy="4425067"/>
            <a:chOff x="0" y="0"/>
            <a:chExt cx="2534132" cy="1165450"/>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2534132" cy="1165450"/>
            </a:xfrm>
            <a:custGeom>
              <a:avLst/>
              <a:gdLst/>
              <a:ahLst/>
              <a:cxnLst/>
              <a:rect r="r" b="b" t="t" l="l"/>
              <a:pathLst>
                <a:path h="1165450" w="2534132">
                  <a:moveTo>
                    <a:pt x="14483" y="0"/>
                  </a:moveTo>
                  <a:lnTo>
                    <a:pt x="2519649" y="0"/>
                  </a:lnTo>
                  <a:cubicBezTo>
                    <a:pt x="2523490" y="0"/>
                    <a:pt x="2527174" y="1526"/>
                    <a:pt x="2529890" y="4242"/>
                  </a:cubicBezTo>
                  <a:cubicBezTo>
                    <a:pt x="2532606" y="6958"/>
                    <a:pt x="2534132" y="10642"/>
                    <a:pt x="2534132" y="14483"/>
                  </a:cubicBezTo>
                  <a:lnTo>
                    <a:pt x="2534132" y="1150967"/>
                  </a:lnTo>
                  <a:cubicBezTo>
                    <a:pt x="2534132" y="1158965"/>
                    <a:pt x="2527648" y="1165450"/>
                    <a:pt x="2519649" y="1165450"/>
                  </a:cubicBezTo>
                  <a:lnTo>
                    <a:pt x="14483" y="1165450"/>
                  </a:lnTo>
                  <a:cubicBezTo>
                    <a:pt x="10642" y="1165450"/>
                    <a:pt x="6958" y="1163924"/>
                    <a:pt x="4242" y="1161208"/>
                  </a:cubicBezTo>
                  <a:cubicBezTo>
                    <a:pt x="1526" y="1158492"/>
                    <a:pt x="0" y="1154808"/>
                    <a:pt x="0" y="1150967"/>
                  </a:cubicBezTo>
                  <a:lnTo>
                    <a:pt x="0" y="14483"/>
                  </a:lnTo>
                  <a:cubicBezTo>
                    <a:pt x="0" y="10642"/>
                    <a:pt x="1526" y="6958"/>
                    <a:pt x="4242" y="4242"/>
                  </a:cubicBezTo>
                  <a:cubicBezTo>
                    <a:pt x="6958" y="1526"/>
                    <a:pt x="10642" y="0"/>
                    <a:pt x="14483" y="0"/>
                  </a:cubicBezTo>
                  <a:close/>
                </a:path>
              </a:pathLst>
            </a:custGeom>
            <a:solidFill>
              <a:srgbClr val="FFFFFF"/>
            </a:solidFill>
          </p:spPr>
        </p:sp>
        <p:sp>
          <p:nvSpPr>
            <p:cNvPr name="TextBox 4" id="4"/>
            <p:cNvSpPr txBox="true"/>
            <p:nvPr/>
          </p:nvSpPr>
          <p:spPr>
            <a:xfrm>
              <a:off x="0" y="-38100"/>
              <a:ext cx="2534132" cy="12035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295703" y="5335412"/>
            <a:ext cx="9621783" cy="4425067"/>
            <a:chOff x="0" y="0"/>
            <a:chExt cx="2534132" cy="1165450"/>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2534132" cy="1165450"/>
            </a:xfrm>
            <a:custGeom>
              <a:avLst/>
              <a:gdLst/>
              <a:ahLst/>
              <a:cxnLst/>
              <a:rect r="r" b="b" t="t" l="l"/>
              <a:pathLst>
                <a:path h="1165450" w="2534132">
                  <a:moveTo>
                    <a:pt x="14483" y="0"/>
                  </a:moveTo>
                  <a:lnTo>
                    <a:pt x="2519649" y="0"/>
                  </a:lnTo>
                  <a:cubicBezTo>
                    <a:pt x="2523490" y="0"/>
                    <a:pt x="2527174" y="1526"/>
                    <a:pt x="2529890" y="4242"/>
                  </a:cubicBezTo>
                  <a:cubicBezTo>
                    <a:pt x="2532606" y="6958"/>
                    <a:pt x="2534132" y="10642"/>
                    <a:pt x="2534132" y="14483"/>
                  </a:cubicBezTo>
                  <a:lnTo>
                    <a:pt x="2534132" y="1150967"/>
                  </a:lnTo>
                  <a:cubicBezTo>
                    <a:pt x="2534132" y="1158965"/>
                    <a:pt x="2527648" y="1165450"/>
                    <a:pt x="2519649" y="1165450"/>
                  </a:cubicBezTo>
                  <a:lnTo>
                    <a:pt x="14483" y="1165450"/>
                  </a:lnTo>
                  <a:cubicBezTo>
                    <a:pt x="10642" y="1165450"/>
                    <a:pt x="6958" y="1163924"/>
                    <a:pt x="4242" y="1161208"/>
                  </a:cubicBezTo>
                  <a:cubicBezTo>
                    <a:pt x="1526" y="1158492"/>
                    <a:pt x="0" y="1154808"/>
                    <a:pt x="0" y="1150967"/>
                  </a:cubicBezTo>
                  <a:lnTo>
                    <a:pt x="0" y="14483"/>
                  </a:lnTo>
                  <a:cubicBezTo>
                    <a:pt x="0" y="10642"/>
                    <a:pt x="1526" y="6958"/>
                    <a:pt x="4242" y="4242"/>
                  </a:cubicBezTo>
                  <a:cubicBezTo>
                    <a:pt x="6958" y="1526"/>
                    <a:pt x="10642" y="0"/>
                    <a:pt x="14483" y="0"/>
                  </a:cubicBezTo>
                  <a:close/>
                </a:path>
              </a:pathLst>
            </a:custGeom>
            <a:solidFill>
              <a:srgbClr val="FFFFFF"/>
            </a:solidFill>
          </p:spPr>
        </p:sp>
        <p:sp>
          <p:nvSpPr>
            <p:cNvPr name="TextBox 7" id="7"/>
            <p:cNvSpPr txBox="true"/>
            <p:nvPr/>
          </p:nvSpPr>
          <p:spPr>
            <a:xfrm>
              <a:off x="0" y="-38100"/>
              <a:ext cx="2534132" cy="120355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590906" y="740259"/>
            <a:ext cx="5828944" cy="2352675"/>
          </a:xfrm>
          <a:prstGeom prst="rect">
            <a:avLst/>
          </a:prstGeom>
        </p:spPr>
        <p:txBody>
          <a:bodyPr anchor="t" rtlCol="false" tIns="0" lIns="0" bIns="0" rIns="0">
            <a:spAutoFit/>
          </a:bodyPr>
          <a:lstStyle/>
          <a:p>
            <a:pPr algn="l" marL="0" indent="0" lvl="0">
              <a:lnSpc>
                <a:spcPts val="9000"/>
              </a:lnSpc>
            </a:pPr>
            <a:r>
              <a:rPr lang="en-US" sz="9000" spc="-270">
                <a:solidFill>
                  <a:srgbClr val="FFFFFF"/>
                </a:solidFill>
                <a:latin typeface="DM Sans"/>
                <a:ea typeface="DM Sans"/>
                <a:cs typeface="DM Sans"/>
                <a:sym typeface="DM Sans"/>
              </a:rPr>
              <a:t>Proposed </a:t>
            </a:r>
            <a:r>
              <a:rPr lang="en-US" sz="9000" spc="-270">
                <a:solidFill>
                  <a:srgbClr val="FFFFFF"/>
                </a:solidFill>
                <a:latin typeface="DM Sans"/>
                <a:ea typeface="DM Sans"/>
                <a:cs typeface="DM Sans"/>
                <a:sym typeface="DM Sans"/>
              </a:rPr>
              <a:t>System</a:t>
            </a:r>
          </a:p>
        </p:txBody>
      </p:sp>
      <p:sp>
        <p:nvSpPr>
          <p:cNvPr name="TextBox 9" id="9"/>
          <p:cNvSpPr txBox="true"/>
          <p:nvPr/>
        </p:nvSpPr>
        <p:spPr>
          <a:xfrm rot="0">
            <a:off x="8736558" y="1114425"/>
            <a:ext cx="3586199" cy="2235406"/>
          </a:xfrm>
          <a:prstGeom prst="rect">
            <a:avLst/>
          </a:prstGeom>
        </p:spPr>
        <p:txBody>
          <a:bodyPr anchor="t" rtlCol="false" tIns="0" lIns="0" bIns="0" rIns="0">
            <a:spAutoFit/>
          </a:bodyPr>
          <a:lstStyle/>
          <a:p>
            <a:pPr algn="l" marL="0" indent="0" lvl="0">
              <a:lnSpc>
                <a:spcPts val="4383"/>
              </a:lnSpc>
            </a:pPr>
            <a:r>
              <a:rPr lang="en-US" sz="4383" spc="-131">
                <a:solidFill>
                  <a:srgbClr val="0A3D62"/>
                </a:solidFill>
                <a:latin typeface="DM Sans"/>
                <a:ea typeface="DM Sans"/>
                <a:cs typeface="DM Sans"/>
                <a:sym typeface="DM Sans"/>
              </a:rPr>
              <a:t>AI-</a:t>
            </a:r>
            <a:r>
              <a:rPr lang="en-US" sz="4383" spc="-131">
                <a:solidFill>
                  <a:srgbClr val="0A3D62"/>
                </a:solidFill>
                <a:latin typeface="DM Sans"/>
                <a:ea typeface="DM Sans"/>
                <a:cs typeface="DM Sans"/>
                <a:sym typeface="DM Sans"/>
              </a:rPr>
              <a:t>Powered Driver Monitoring System</a:t>
            </a:r>
          </a:p>
        </p:txBody>
      </p:sp>
      <p:sp>
        <p:nvSpPr>
          <p:cNvPr name="TextBox 10" id="10"/>
          <p:cNvSpPr txBox="true"/>
          <p:nvPr/>
        </p:nvSpPr>
        <p:spPr>
          <a:xfrm rot="0">
            <a:off x="8736558" y="5890720"/>
            <a:ext cx="3586199" cy="2164080"/>
          </a:xfrm>
          <a:prstGeom prst="rect">
            <a:avLst/>
          </a:prstGeom>
        </p:spPr>
        <p:txBody>
          <a:bodyPr anchor="t" rtlCol="false" tIns="0" lIns="0" bIns="0" rIns="0">
            <a:spAutoFit/>
          </a:bodyPr>
          <a:lstStyle/>
          <a:p>
            <a:pPr algn="l" marL="0" indent="0" lvl="0">
              <a:lnSpc>
                <a:spcPts val="4200"/>
              </a:lnSpc>
            </a:pPr>
            <a:r>
              <a:rPr lang="en-US" sz="4200" spc="-126">
                <a:solidFill>
                  <a:srgbClr val="0A3D62"/>
                </a:solidFill>
                <a:latin typeface="DM Sans"/>
                <a:ea typeface="DM Sans"/>
                <a:cs typeface="DM Sans"/>
                <a:sym typeface="DM Sans"/>
              </a:rPr>
              <a:t>Advanced Sensor Technologies for Safety</a:t>
            </a:r>
          </a:p>
        </p:txBody>
      </p:sp>
      <p:grpSp>
        <p:nvGrpSpPr>
          <p:cNvPr name="Group 11" id="11"/>
          <p:cNvGrpSpPr/>
          <p:nvPr/>
        </p:nvGrpSpPr>
        <p:grpSpPr>
          <a:xfrm rot="0">
            <a:off x="12567228" y="1028700"/>
            <a:ext cx="5086350" cy="3475783"/>
            <a:chOff x="0" y="0"/>
            <a:chExt cx="1189426" cy="812800"/>
          </a:xfrm>
        </p:grpSpPr>
        <p:sp>
          <p:nvSpPr>
            <p:cNvPr name="Freeform 12" id="12"/>
            <p:cNvSpPr/>
            <p:nvPr/>
          </p:nvSpPr>
          <p:spPr>
            <a:xfrm flipH="false" flipV="false" rot="0">
              <a:off x="0" y="0"/>
              <a:ext cx="1189426" cy="812800"/>
            </a:xfrm>
            <a:custGeom>
              <a:avLst/>
              <a:gdLst/>
              <a:ahLst/>
              <a:cxnLst/>
              <a:rect r="r" b="b" t="t" l="l"/>
              <a:pathLst>
                <a:path h="812800" w="1189426">
                  <a:moveTo>
                    <a:pt x="27398" y="0"/>
                  </a:moveTo>
                  <a:lnTo>
                    <a:pt x="1162028" y="0"/>
                  </a:lnTo>
                  <a:cubicBezTo>
                    <a:pt x="1169294" y="0"/>
                    <a:pt x="1176263" y="2887"/>
                    <a:pt x="1181401" y="8025"/>
                  </a:cubicBezTo>
                  <a:cubicBezTo>
                    <a:pt x="1186539" y="13163"/>
                    <a:pt x="1189426" y="20131"/>
                    <a:pt x="1189426" y="27398"/>
                  </a:cubicBezTo>
                  <a:lnTo>
                    <a:pt x="1189426" y="785402"/>
                  </a:lnTo>
                  <a:cubicBezTo>
                    <a:pt x="1189426" y="792669"/>
                    <a:pt x="1186539" y="799637"/>
                    <a:pt x="1181401" y="804775"/>
                  </a:cubicBezTo>
                  <a:cubicBezTo>
                    <a:pt x="1176263" y="809913"/>
                    <a:pt x="1169294" y="812800"/>
                    <a:pt x="1162028" y="812800"/>
                  </a:cubicBezTo>
                  <a:lnTo>
                    <a:pt x="27398" y="812800"/>
                  </a:lnTo>
                  <a:cubicBezTo>
                    <a:pt x="20131" y="812800"/>
                    <a:pt x="13163" y="809913"/>
                    <a:pt x="8025" y="804775"/>
                  </a:cubicBezTo>
                  <a:cubicBezTo>
                    <a:pt x="2887" y="799637"/>
                    <a:pt x="0" y="792669"/>
                    <a:pt x="0" y="785402"/>
                  </a:cubicBezTo>
                  <a:lnTo>
                    <a:pt x="0" y="27398"/>
                  </a:lnTo>
                  <a:cubicBezTo>
                    <a:pt x="0" y="20131"/>
                    <a:pt x="2887" y="13163"/>
                    <a:pt x="8025" y="8025"/>
                  </a:cubicBezTo>
                  <a:cubicBezTo>
                    <a:pt x="13163" y="2887"/>
                    <a:pt x="20131" y="0"/>
                    <a:pt x="27398" y="0"/>
                  </a:cubicBezTo>
                  <a:close/>
                </a:path>
              </a:pathLst>
            </a:custGeom>
            <a:blipFill>
              <a:blip r:embed="rId2"/>
              <a:stretch>
                <a:fillRect l="-246" t="0" r="-246" b="0"/>
              </a:stretch>
            </a:blipFill>
          </p:spPr>
        </p:sp>
      </p:grpSp>
      <p:grpSp>
        <p:nvGrpSpPr>
          <p:cNvPr name="Group 13" id="13"/>
          <p:cNvGrpSpPr/>
          <p:nvPr/>
        </p:nvGrpSpPr>
        <p:grpSpPr>
          <a:xfrm rot="0">
            <a:off x="12567228" y="5814520"/>
            <a:ext cx="5086350" cy="3475783"/>
            <a:chOff x="0" y="0"/>
            <a:chExt cx="1189426" cy="812800"/>
          </a:xfrm>
        </p:grpSpPr>
        <p:sp>
          <p:nvSpPr>
            <p:cNvPr name="Freeform 14" id="14"/>
            <p:cNvSpPr/>
            <p:nvPr/>
          </p:nvSpPr>
          <p:spPr>
            <a:xfrm flipH="false" flipV="false" rot="0">
              <a:off x="0" y="0"/>
              <a:ext cx="1189426" cy="812800"/>
            </a:xfrm>
            <a:custGeom>
              <a:avLst/>
              <a:gdLst/>
              <a:ahLst/>
              <a:cxnLst/>
              <a:rect r="r" b="b" t="t" l="l"/>
              <a:pathLst>
                <a:path h="812800" w="1189426">
                  <a:moveTo>
                    <a:pt x="27398" y="0"/>
                  </a:moveTo>
                  <a:lnTo>
                    <a:pt x="1162028" y="0"/>
                  </a:lnTo>
                  <a:cubicBezTo>
                    <a:pt x="1169294" y="0"/>
                    <a:pt x="1176263" y="2887"/>
                    <a:pt x="1181401" y="8025"/>
                  </a:cubicBezTo>
                  <a:cubicBezTo>
                    <a:pt x="1186539" y="13163"/>
                    <a:pt x="1189426" y="20131"/>
                    <a:pt x="1189426" y="27398"/>
                  </a:cubicBezTo>
                  <a:lnTo>
                    <a:pt x="1189426" y="785402"/>
                  </a:lnTo>
                  <a:cubicBezTo>
                    <a:pt x="1189426" y="792669"/>
                    <a:pt x="1186539" y="799637"/>
                    <a:pt x="1181401" y="804775"/>
                  </a:cubicBezTo>
                  <a:cubicBezTo>
                    <a:pt x="1176263" y="809913"/>
                    <a:pt x="1169294" y="812800"/>
                    <a:pt x="1162028" y="812800"/>
                  </a:cubicBezTo>
                  <a:lnTo>
                    <a:pt x="27398" y="812800"/>
                  </a:lnTo>
                  <a:cubicBezTo>
                    <a:pt x="20131" y="812800"/>
                    <a:pt x="13163" y="809913"/>
                    <a:pt x="8025" y="804775"/>
                  </a:cubicBezTo>
                  <a:cubicBezTo>
                    <a:pt x="2887" y="799637"/>
                    <a:pt x="0" y="792669"/>
                    <a:pt x="0" y="785402"/>
                  </a:cubicBezTo>
                  <a:lnTo>
                    <a:pt x="0" y="27398"/>
                  </a:lnTo>
                  <a:cubicBezTo>
                    <a:pt x="0" y="20131"/>
                    <a:pt x="2887" y="13163"/>
                    <a:pt x="8025" y="8025"/>
                  </a:cubicBezTo>
                  <a:cubicBezTo>
                    <a:pt x="13163" y="2887"/>
                    <a:pt x="20131" y="0"/>
                    <a:pt x="27398" y="0"/>
                  </a:cubicBezTo>
                  <a:close/>
                </a:path>
              </a:pathLst>
            </a:custGeom>
            <a:blipFill>
              <a:blip r:embed="rId3"/>
              <a:stretch>
                <a:fillRect l="-246" t="0" r="-246" b="0"/>
              </a:stretch>
            </a:blipFill>
          </p:spPr>
        </p:sp>
      </p:grpSp>
      <p:grpSp>
        <p:nvGrpSpPr>
          <p:cNvPr name="Group 15" id="15"/>
          <p:cNvGrpSpPr/>
          <p:nvPr/>
        </p:nvGrpSpPr>
        <p:grpSpPr>
          <a:xfrm rot="5400000">
            <a:off x="811388" y="3011086"/>
            <a:ext cx="6410649" cy="7088138"/>
            <a:chOff x="0" y="0"/>
            <a:chExt cx="1688401" cy="1866835"/>
          </a:xfrm>
        </p:grpSpPr>
        <p:sp>
          <p:nvSpPr>
            <p:cNvPr name="Freeform 16" id="16">
              <a:extLst>
                <a:ext uri="{C183D7F6-B498-43B3-948B-1728B52AA6E4}">
                  <adec:decorative xmlns:adec="http://schemas.microsoft.com/office/drawing/2017/decorative" val="1"/>
                </a:ext>
              </a:extLst>
            </p:cNvPr>
            <p:cNvSpPr/>
            <p:nvPr/>
          </p:nvSpPr>
          <p:spPr>
            <a:xfrm flipH="false" flipV="false" rot="0">
              <a:off x="0" y="0"/>
              <a:ext cx="1688401" cy="1866835"/>
            </a:xfrm>
            <a:custGeom>
              <a:avLst/>
              <a:gdLst/>
              <a:ahLst/>
              <a:cxnLst/>
              <a:rect r="r" b="b" t="t" l="l"/>
              <a:pathLst>
                <a:path h="1866835" w="1688401">
                  <a:moveTo>
                    <a:pt x="21738" y="0"/>
                  </a:moveTo>
                  <a:lnTo>
                    <a:pt x="1666663" y="0"/>
                  </a:lnTo>
                  <a:cubicBezTo>
                    <a:pt x="1672429" y="0"/>
                    <a:pt x="1677958" y="2290"/>
                    <a:pt x="1682035" y="6367"/>
                  </a:cubicBezTo>
                  <a:cubicBezTo>
                    <a:pt x="1686111" y="10444"/>
                    <a:pt x="1688401" y="15973"/>
                    <a:pt x="1688401" y="21738"/>
                  </a:cubicBezTo>
                  <a:lnTo>
                    <a:pt x="1688401" y="1845097"/>
                  </a:lnTo>
                  <a:cubicBezTo>
                    <a:pt x="1688401" y="1850862"/>
                    <a:pt x="1686111" y="1856391"/>
                    <a:pt x="1682035" y="1860468"/>
                  </a:cubicBezTo>
                  <a:cubicBezTo>
                    <a:pt x="1677958" y="1864545"/>
                    <a:pt x="1672429" y="1866835"/>
                    <a:pt x="1666663" y="1866835"/>
                  </a:cubicBezTo>
                  <a:lnTo>
                    <a:pt x="21738" y="1866835"/>
                  </a:lnTo>
                  <a:cubicBezTo>
                    <a:pt x="15973" y="1866835"/>
                    <a:pt x="10444" y="1864545"/>
                    <a:pt x="6367" y="1860468"/>
                  </a:cubicBezTo>
                  <a:cubicBezTo>
                    <a:pt x="2290" y="1856391"/>
                    <a:pt x="0" y="1850862"/>
                    <a:pt x="0" y="1845097"/>
                  </a:cubicBezTo>
                  <a:lnTo>
                    <a:pt x="0" y="21738"/>
                  </a:lnTo>
                  <a:cubicBezTo>
                    <a:pt x="0" y="15973"/>
                    <a:pt x="2290" y="10444"/>
                    <a:pt x="6367" y="6367"/>
                  </a:cubicBezTo>
                  <a:cubicBezTo>
                    <a:pt x="10444" y="2290"/>
                    <a:pt x="15973" y="0"/>
                    <a:pt x="21738" y="0"/>
                  </a:cubicBezTo>
                  <a:close/>
                </a:path>
              </a:pathLst>
            </a:custGeom>
            <a:solidFill>
              <a:srgbClr val="FFFFFF"/>
            </a:solidFill>
          </p:spPr>
        </p:sp>
        <p:sp>
          <p:nvSpPr>
            <p:cNvPr name="TextBox 17" id="17"/>
            <p:cNvSpPr txBox="true"/>
            <p:nvPr/>
          </p:nvSpPr>
          <p:spPr>
            <a:xfrm>
              <a:off x="0" y="-38100"/>
              <a:ext cx="1688401" cy="190493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895868" y="3928561"/>
            <a:ext cx="5718884" cy="1130506"/>
          </a:xfrm>
          <a:prstGeom prst="rect">
            <a:avLst/>
          </a:prstGeom>
        </p:spPr>
        <p:txBody>
          <a:bodyPr anchor="t" rtlCol="false" tIns="0" lIns="0" bIns="0" rIns="0">
            <a:spAutoFit/>
          </a:bodyPr>
          <a:lstStyle/>
          <a:p>
            <a:pPr algn="l" marL="0" indent="0" lvl="0">
              <a:lnSpc>
                <a:spcPts val="4383"/>
              </a:lnSpc>
            </a:pPr>
            <a:r>
              <a:rPr lang="en-US" sz="4383" spc="-131">
                <a:solidFill>
                  <a:srgbClr val="0A3D62"/>
                </a:solidFill>
                <a:latin typeface="DM Sans"/>
                <a:ea typeface="DM Sans"/>
                <a:cs typeface="DM Sans"/>
                <a:sym typeface="DM Sans"/>
              </a:rPr>
              <a:t>Real-Tim</a:t>
            </a:r>
            <a:r>
              <a:rPr lang="en-US" sz="4383" spc="-131">
                <a:solidFill>
                  <a:srgbClr val="0A3D62"/>
                </a:solidFill>
                <a:latin typeface="DM Sans"/>
                <a:ea typeface="DM Sans"/>
                <a:cs typeface="DM Sans"/>
                <a:sym typeface="DM Sans"/>
              </a:rPr>
              <a:t>e Eye Detection for Alertness</a:t>
            </a:r>
          </a:p>
        </p:txBody>
      </p:sp>
      <p:grpSp>
        <p:nvGrpSpPr>
          <p:cNvPr name="Group 19" id="19"/>
          <p:cNvGrpSpPr/>
          <p:nvPr/>
        </p:nvGrpSpPr>
        <p:grpSpPr>
          <a:xfrm rot="0">
            <a:off x="1719804" y="5515090"/>
            <a:ext cx="5524527" cy="3775214"/>
            <a:chOff x="0" y="0"/>
            <a:chExt cx="1189426" cy="812800"/>
          </a:xfrm>
        </p:grpSpPr>
        <p:sp>
          <p:nvSpPr>
            <p:cNvPr name="Freeform 20" id="20"/>
            <p:cNvSpPr/>
            <p:nvPr/>
          </p:nvSpPr>
          <p:spPr>
            <a:xfrm flipH="false" flipV="false" rot="0">
              <a:off x="0" y="0"/>
              <a:ext cx="1189426" cy="812800"/>
            </a:xfrm>
            <a:custGeom>
              <a:avLst/>
              <a:gdLst/>
              <a:ahLst/>
              <a:cxnLst/>
              <a:rect r="r" b="b" t="t" l="l"/>
              <a:pathLst>
                <a:path h="812800" w="1189426">
                  <a:moveTo>
                    <a:pt x="25225" y="0"/>
                  </a:moveTo>
                  <a:lnTo>
                    <a:pt x="1164201" y="0"/>
                  </a:lnTo>
                  <a:cubicBezTo>
                    <a:pt x="1170891" y="0"/>
                    <a:pt x="1177307" y="2658"/>
                    <a:pt x="1182037" y="7388"/>
                  </a:cubicBezTo>
                  <a:cubicBezTo>
                    <a:pt x="1186768" y="12119"/>
                    <a:pt x="1189426" y="18535"/>
                    <a:pt x="1189426" y="25225"/>
                  </a:cubicBezTo>
                  <a:lnTo>
                    <a:pt x="1189426" y="787575"/>
                  </a:lnTo>
                  <a:cubicBezTo>
                    <a:pt x="1189426" y="801507"/>
                    <a:pt x="1178132" y="812800"/>
                    <a:pt x="1164201" y="812800"/>
                  </a:cubicBezTo>
                  <a:lnTo>
                    <a:pt x="25225" y="812800"/>
                  </a:lnTo>
                  <a:cubicBezTo>
                    <a:pt x="11293" y="812800"/>
                    <a:pt x="0" y="801507"/>
                    <a:pt x="0" y="787575"/>
                  </a:cubicBezTo>
                  <a:lnTo>
                    <a:pt x="0" y="25225"/>
                  </a:lnTo>
                  <a:cubicBezTo>
                    <a:pt x="0" y="11293"/>
                    <a:pt x="11293" y="0"/>
                    <a:pt x="25225" y="0"/>
                  </a:cubicBezTo>
                  <a:close/>
                </a:path>
              </a:pathLst>
            </a:custGeom>
            <a:blipFill>
              <a:blip r:embed="rId4"/>
              <a:stretch>
                <a:fillRect l="-246" t="0" r="-246"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3D62"/>
        </a:solidFill>
      </p:bgPr>
    </p:bg>
    <p:spTree>
      <p:nvGrpSpPr>
        <p:cNvPr id="1" name=""/>
        <p:cNvGrpSpPr/>
        <p:nvPr/>
      </p:nvGrpSpPr>
      <p:grpSpPr>
        <a:xfrm>
          <a:off x="0" y="0"/>
          <a:ext cx="0" cy="0"/>
          <a:chOff x="0" y="0"/>
          <a:chExt cx="0" cy="0"/>
        </a:xfrm>
      </p:grpSpPr>
      <p:grpSp>
        <p:nvGrpSpPr>
          <p:cNvPr name="Group 2" id="2"/>
          <p:cNvGrpSpPr/>
          <p:nvPr/>
        </p:nvGrpSpPr>
        <p:grpSpPr>
          <a:xfrm rot="0">
            <a:off x="8270462" y="718433"/>
            <a:ext cx="9621783" cy="4425067"/>
            <a:chOff x="0" y="0"/>
            <a:chExt cx="2534132" cy="1165450"/>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2534132" cy="1165450"/>
            </a:xfrm>
            <a:custGeom>
              <a:avLst/>
              <a:gdLst/>
              <a:ahLst/>
              <a:cxnLst/>
              <a:rect r="r" b="b" t="t" l="l"/>
              <a:pathLst>
                <a:path h="1165450" w="2534132">
                  <a:moveTo>
                    <a:pt x="14483" y="0"/>
                  </a:moveTo>
                  <a:lnTo>
                    <a:pt x="2519649" y="0"/>
                  </a:lnTo>
                  <a:cubicBezTo>
                    <a:pt x="2523490" y="0"/>
                    <a:pt x="2527174" y="1526"/>
                    <a:pt x="2529890" y="4242"/>
                  </a:cubicBezTo>
                  <a:cubicBezTo>
                    <a:pt x="2532606" y="6958"/>
                    <a:pt x="2534132" y="10642"/>
                    <a:pt x="2534132" y="14483"/>
                  </a:cubicBezTo>
                  <a:lnTo>
                    <a:pt x="2534132" y="1150967"/>
                  </a:lnTo>
                  <a:cubicBezTo>
                    <a:pt x="2534132" y="1158965"/>
                    <a:pt x="2527648" y="1165450"/>
                    <a:pt x="2519649" y="1165450"/>
                  </a:cubicBezTo>
                  <a:lnTo>
                    <a:pt x="14483" y="1165450"/>
                  </a:lnTo>
                  <a:cubicBezTo>
                    <a:pt x="10642" y="1165450"/>
                    <a:pt x="6958" y="1163924"/>
                    <a:pt x="4242" y="1161208"/>
                  </a:cubicBezTo>
                  <a:cubicBezTo>
                    <a:pt x="1526" y="1158492"/>
                    <a:pt x="0" y="1154808"/>
                    <a:pt x="0" y="1150967"/>
                  </a:cubicBezTo>
                  <a:lnTo>
                    <a:pt x="0" y="14483"/>
                  </a:lnTo>
                  <a:cubicBezTo>
                    <a:pt x="0" y="10642"/>
                    <a:pt x="1526" y="6958"/>
                    <a:pt x="4242" y="4242"/>
                  </a:cubicBezTo>
                  <a:cubicBezTo>
                    <a:pt x="6958" y="1526"/>
                    <a:pt x="10642" y="0"/>
                    <a:pt x="14483" y="0"/>
                  </a:cubicBezTo>
                  <a:close/>
                </a:path>
              </a:pathLst>
            </a:custGeom>
            <a:solidFill>
              <a:srgbClr val="FFFFFF"/>
            </a:solidFill>
          </p:spPr>
        </p:sp>
        <p:sp>
          <p:nvSpPr>
            <p:cNvPr name="TextBox 4" id="4"/>
            <p:cNvSpPr txBox="true"/>
            <p:nvPr/>
          </p:nvSpPr>
          <p:spPr>
            <a:xfrm>
              <a:off x="0" y="-38100"/>
              <a:ext cx="2534132" cy="12035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270462" y="5335412"/>
            <a:ext cx="9621783" cy="4425067"/>
            <a:chOff x="0" y="0"/>
            <a:chExt cx="2534132" cy="1165450"/>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2534132" cy="1165450"/>
            </a:xfrm>
            <a:custGeom>
              <a:avLst/>
              <a:gdLst/>
              <a:ahLst/>
              <a:cxnLst/>
              <a:rect r="r" b="b" t="t" l="l"/>
              <a:pathLst>
                <a:path h="1165450" w="2534132">
                  <a:moveTo>
                    <a:pt x="14483" y="0"/>
                  </a:moveTo>
                  <a:lnTo>
                    <a:pt x="2519649" y="0"/>
                  </a:lnTo>
                  <a:cubicBezTo>
                    <a:pt x="2523490" y="0"/>
                    <a:pt x="2527174" y="1526"/>
                    <a:pt x="2529890" y="4242"/>
                  </a:cubicBezTo>
                  <a:cubicBezTo>
                    <a:pt x="2532606" y="6958"/>
                    <a:pt x="2534132" y="10642"/>
                    <a:pt x="2534132" y="14483"/>
                  </a:cubicBezTo>
                  <a:lnTo>
                    <a:pt x="2534132" y="1150967"/>
                  </a:lnTo>
                  <a:cubicBezTo>
                    <a:pt x="2534132" y="1158965"/>
                    <a:pt x="2527648" y="1165450"/>
                    <a:pt x="2519649" y="1165450"/>
                  </a:cubicBezTo>
                  <a:lnTo>
                    <a:pt x="14483" y="1165450"/>
                  </a:lnTo>
                  <a:cubicBezTo>
                    <a:pt x="10642" y="1165450"/>
                    <a:pt x="6958" y="1163924"/>
                    <a:pt x="4242" y="1161208"/>
                  </a:cubicBezTo>
                  <a:cubicBezTo>
                    <a:pt x="1526" y="1158492"/>
                    <a:pt x="0" y="1154808"/>
                    <a:pt x="0" y="1150967"/>
                  </a:cubicBezTo>
                  <a:lnTo>
                    <a:pt x="0" y="14483"/>
                  </a:lnTo>
                  <a:cubicBezTo>
                    <a:pt x="0" y="10642"/>
                    <a:pt x="1526" y="6958"/>
                    <a:pt x="4242" y="4242"/>
                  </a:cubicBezTo>
                  <a:cubicBezTo>
                    <a:pt x="6958" y="1526"/>
                    <a:pt x="10642" y="0"/>
                    <a:pt x="14483" y="0"/>
                  </a:cubicBezTo>
                  <a:close/>
                </a:path>
              </a:pathLst>
            </a:custGeom>
            <a:solidFill>
              <a:srgbClr val="FFFFFF"/>
            </a:solidFill>
          </p:spPr>
        </p:sp>
        <p:sp>
          <p:nvSpPr>
            <p:cNvPr name="TextBox 7" id="7"/>
            <p:cNvSpPr txBox="true"/>
            <p:nvPr/>
          </p:nvSpPr>
          <p:spPr>
            <a:xfrm>
              <a:off x="0" y="-38100"/>
              <a:ext cx="2534132" cy="1203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567228" y="5778677"/>
            <a:ext cx="4924589" cy="3320734"/>
            <a:chOff x="0" y="0"/>
            <a:chExt cx="762948" cy="514469"/>
          </a:xfrm>
        </p:grpSpPr>
        <p:sp>
          <p:nvSpPr>
            <p:cNvPr name="Freeform 9" id="9"/>
            <p:cNvSpPr/>
            <p:nvPr/>
          </p:nvSpPr>
          <p:spPr>
            <a:xfrm flipH="false" flipV="false" rot="0">
              <a:off x="0" y="0"/>
              <a:ext cx="762948" cy="514469"/>
            </a:xfrm>
            <a:custGeom>
              <a:avLst/>
              <a:gdLst/>
              <a:ahLst/>
              <a:cxnLst/>
              <a:rect r="r" b="b" t="t" l="l"/>
              <a:pathLst>
                <a:path h="514469" w="762948">
                  <a:moveTo>
                    <a:pt x="25154" y="0"/>
                  </a:moveTo>
                  <a:lnTo>
                    <a:pt x="737794" y="0"/>
                  </a:lnTo>
                  <a:cubicBezTo>
                    <a:pt x="751686" y="0"/>
                    <a:pt x="762948" y="11262"/>
                    <a:pt x="762948" y="25154"/>
                  </a:cubicBezTo>
                  <a:lnTo>
                    <a:pt x="762948" y="489315"/>
                  </a:lnTo>
                  <a:cubicBezTo>
                    <a:pt x="762948" y="503207"/>
                    <a:pt x="751686" y="514469"/>
                    <a:pt x="737794" y="514469"/>
                  </a:cubicBezTo>
                  <a:lnTo>
                    <a:pt x="25154" y="514469"/>
                  </a:lnTo>
                  <a:cubicBezTo>
                    <a:pt x="11262" y="514469"/>
                    <a:pt x="0" y="503207"/>
                    <a:pt x="0" y="489315"/>
                  </a:cubicBezTo>
                  <a:lnTo>
                    <a:pt x="0" y="25154"/>
                  </a:lnTo>
                  <a:cubicBezTo>
                    <a:pt x="0" y="11262"/>
                    <a:pt x="11262" y="0"/>
                    <a:pt x="25154" y="0"/>
                  </a:cubicBezTo>
                  <a:close/>
                </a:path>
              </a:pathLst>
            </a:custGeom>
            <a:blipFill>
              <a:blip r:embed="rId2"/>
              <a:stretch>
                <a:fillRect l="-42" t="0" r="-42" b="0"/>
              </a:stretch>
            </a:blipFill>
          </p:spPr>
        </p:sp>
      </p:grpSp>
      <p:sp>
        <p:nvSpPr>
          <p:cNvPr name="TextBox 10" id="10"/>
          <p:cNvSpPr txBox="true"/>
          <p:nvPr/>
        </p:nvSpPr>
        <p:spPr>
          <a:xfrm rot="0">
            <a:off x="590906" y="740259"/>
            <a:ext cx="5828944" cy="2352675"/>
          </a:xfrm>
          <a:prstGeom prst="rect">
            <a:avLst/>
          </a:prstGeom>
        </p:spPr>
        <p:txBody>
          <a:bodyPr anchor="t" rtlCol="false" tIns="0" lIns="0" bIns="0" rIns="0">
            <a:spAutoFit/>
          </a:bodyPr>
          <a:lstStyle/>
          <a:p>
            <a:pPr algn="l" marL="0" indent="0" lvl="0">
              <a:lnSpc>
                <a:spcPts val="9000"/>
              </a:lnSpc>
            </a:pPr>
            <a:r>
              <a:rPr lang="en-US" sz="9000" spc="-270">
                <a:solidFill>
                  <a:srgbClr val="FFFFFF"/>
                </a:solidFill>
                <a:latin typeface="DM Sans"/>
                <a:ea typeface="DM Sans"/>
                <a:cs typeface="DM Sans"/>
                <a:sym typeface="DM Sans"/>
              </a:rPr>
              <a:t>Project Overview</a:t>
            </a:r>
          </a:p>
        </p:txBody>
      </p:sp>
      <p:grpSp>
        <p:nvGrpSpPr>
          <p:cNvPr name="Group 11" id="11"/>
          <p:cNvGrpSpPr/>
          <p:nvPr/>
        </p:nvGrpSpPr>
        <p:grpSpPr>
          <a:xfrm rot="0">
            <a:off x="8700584" y="1028700"/>
            <a:ext cx="3436392" cy="2372226"/>
            <a:chOff x="0" y="0"/>
            <a:chExt cx="4581856" cy="3162968"/>
          </a:xfrm>
        </p:grpSpPr>
        <p:sp>
          <p:nvSpPr>
            <p:cNvPr name="TextBox 12" id="12"/>
            <p:cNvSpPr txBox="true"/>
            <p:nvPr/>
          </p:nvSpPr>
          <p:spPr>
            <a:xfrm rot="0">
              <a:off x="0" y="85725"/>
              <a:ext cx="4581856" cy="1534795"/>
            </a:xfrm>
            <a:prstGeom prst="rect">
              <a:avLst/>
            </a:prstGeom>
          </p:spPr>
          <p:txBody>
            <a:bodyPr anchor="t" rtlCol="false" tIns="0" lIns="0" bIns="0" rIns="0">
              <a:spAutoFit/>
            </a:bodyPr>
            <a:lstStyle/>
            <a:p>
              <a:pPr algn="l" marL="0" indent="0" lvl="0">
                <a:lnSpc>
                  <a:spcPts val="4350"/>
                </a:lnSpc>
              </a:pPr>
              <a:r>
                <a:rPr lang="en-US" sz="4350" spc="-130">
                  <a:solidFill>
                    <a:srgbClr val="0A3D62"/>
                  </a:solidFill>
                  <a:latin typeface="DM Sans"/>
                  <a:ea typeface="DM Sans"/>
                  <a:cs typeface="DM Sans"/>
                  <a:sym typeface="DM Sans"/>
                </a:rPr>
                <a:t>Video Acquisition</a:t>
              </a:r>
            </a:p>
          </p:txBody>
        </p:sp>
        <p:sp>
          <p:nvSpPr>
            <p:cNvPr name="TextBox 13" id="13"/>
            <p:cNvSpPr txBox="true"/>
            <p:nvPr/>
          </p:nvSpPr>
          <p:spPr>
            <a:xfrm rot="0">
              <a:off x="0" y="1934243"/>
              <a:ext cx="4581856" cy="1228725"/>
            </a:xfrm>
            <a:prstGeom prst="rect">
              <a:avLst/>
            </a:prstGeom>
          </p:spPr>
          <p:txBody>
            <a:bodyPr anchor="t" rtlCol="false" tIns="0" lIns="0" bIns="0" rIns="0">
              <a:spAutoFit/>
            </a:bodyPr>
            <a:lstStyle/>
            <a:p>
              <a:pPr algn="l" marL="0" indent="0" lvl="0">
                <a:lnSpc>
                  <a:spcPts val="2400"/>
                </a:lnSpc>
              </a:pPr>
              <a:r>
                <a:rPr lang="en-US" sz="2000" strike="noStrike" u="none">
                  <a:solidFill>
                    <a:srgbClr val="0A3D62"/>
                  </a:solidFill>
                  <a:latin typeface="DM Sans"/>
                  <a:ea typeface="DM Sans"/>
                  <a:cs typeface="DM Sans"/>
                  <a:sym typeface="DM Sans"/>
                </a:rPr>
                <a:t>Captures real-time footage to monitor driver behavior and alert drowsiness.</a:t>
              </a:r>
            </a:p>
          </p:txBody>
        </p:sp>
      </p:grpSp>
      <p:grpSp>
        <p:nvGrpSpPr>
          <p:cNvPr name="Group 14" id="14"/>
          <p:cNvGrpSpPr/>
          <p:nvPr/>
        </p:nvGrpSpPr>
        <p:grpSpPr>
          <a:xfrm rot="0">
            <a:off x="8700584" y="5778677"/>
            <a:ext cx="3436392" cy="2371712"/>
            <a:chOff x="0" y="0"/>
            <a:chExt cx="4581856" cy="3162283"/>
          </a:xfrm>
        </p:grpSpPr>
        <p:sp>
          <p:nvSpPr>
            <p:cNvPr name="TextBox 15" id="15"/>
            <p:cNvSpPr txBox="true"/>
            <p:nvPr/>
          </p:nvSpPr>
          <p:spPr>
            <a:xfrm rot="0">
              <a:off x="0" y="85725"/>
              <a:ext cx="4581856" cy="1534795"/>
            </a:xfrm>
            <a:prstGeom prst="rect">
              <a:avLst/>
            </a:prstGeom>
          </p:spPr>
          <p:txBody>
            <a:bodyPr anchor="t" rtlCol="false" tIns="0" lIns="0" bIns="0" rIns="0">
              <a:spAutoFit/>
            </a:bodyPr>
            <a:lstStyle/>
            <a:p>
              <a:pPr algn="l" marL="0" indent="0" lvl="0">
                <a:lnSpc>
                  <a:spcPts val="4350"/>
                </a:lnSpc>
              </a:pPr>
              <a:r>
                <a:rPr lang="en-US" sz="4350" spc="-130">
                  <a:solidFill>
                    <a:srgbClr val="0A3D62"/>
                  </a:solidFill>
                  <a:latin typeface="DM Sans"/>
                  <a:ea typeface="DM Sans"/>
                  <a:cs typeface="DM Sans"/>
                  <a:sym typeface="DM Sans"/>
                </a:rPr>
                <a:t>Image Preprocessing</a:t>
              </a:r>
            </a:p>
          </p:txBody>
        </p:sp>
        <p:sp>
          <p:nvSpPr>
            <p:cNvPr name="TextBox 16" id="16"/>
            <p:cNvSpPr txBox="true"/>
            <p:nvPr/>
          </p:nvSpPr>
          <p:spPr>
            <a:xfrm rot="0">
              <a:off x="0" y="1933558"/>
              <a:ext cx="4581856" cy="1228725"/>
            </a:xfrm>
            <a:prstGeom prst="rect">
              <a:avLst/>
            </a:prstGeom>
          </p:spPr>
          <p:txBody>
            <a:bodyPr anchor="t" rtlCol="false" tIns="0" lIns="0" bIns="0" rIns="0">
              <a:spAutoFit/>
            </a:bodyPr>
            <a:lstStyle/>
            <a:p>
              <a:pPr algn="l" marL="0" indent="0" lvl="0">
                <a:lnSpc>
                  <a:spcPts val="2400"/>
                </a:lnSpc>
              </a:pPr>
              <a:r>
                <a:rPr lang="en-US" sz="2000" strike="noStrike" u="none">
                  <a:solidFill>
                    <a:srgbClr val="0A3D62"/>
                  </a:solidFill>
                  <a:latin typeface="DM Sans"/>
                  <a:ea typeface="DM Sans"/>
                  <a:cs typeface="DM Sans"/>
                  <a:sym typeface="DM Sans"/>
                </a:rPr>
                <a:t>Applies techniques to enhance video quality and prepare for analysis.</a:t>
              </a:r>
            </a:p>
          </p:txBody>
        </p:sp>
      </p:grpSp>
      <p:grpSp>
        <p:nvGrpSpPr>
          <p:cNvPr name="Group 17" id="17"/>
          <p:cNvGrpSpPr/>
          <p:nvPr/>
        </p:nvGrpSpPr>
        <p:grpSpPr>
          <a:xfrm rot="5400000">
            <a:off x="1295274" y="3029008"/>
            <a:ext cx="5908841" cy="7554103"/>
            <a:chOff x="0" y="0"/>
            <a:chExt cx="1556238" cy="1989558"/>
          </a:xfrm>
        </p:grpSpPr>
        <p:sp>
          <p:nvSpPr>
            <p:cNvPr name="Freeform 18" id="18">
              <a:extLst>
                <a:ext uri="{C183D7F6-B498-43B3-948B-1728B52AA6E4}">
                  <adec:decorative xmlns:adec="http://schemas.microsoft.com/office/drawing/2017/decorative" val="1"/>
                </a:ext>
              </a:extLst>
            </p:cNvPr>
            <p:cNvSpPr/>
            <p:nvPr/>
          </p:nvSpPr>
          <p:spPr>
            <a:xfrm flipH="false" flipV="false" rot="0">
              <a:off x="0" y="0"/>
              <a:ext cx="1556238" cy="1989558"/>
            </a:xfrm>
            <a:custGeom>
              <a:avLst/>
              <a:gdLst/>
              <a:ahLst/>
              <a:cxnLst/>
              <a:rect r="r" b="b" t="t" l="l"/>
              <a:pathLst>
                <a:path h="1989558" w="1556238">
                  <a:moveTo>
                    <a:pt x="23584" y="0"/>
                  </a:moveTo>
                  <a:lnTo>
                    <a:pt x="1532654" y="0"/>
                  </a:lnTo>
                  <a:cubicBezTo>
                    <a:pt x="1545679" y="0"/>
                    <a:pt x="1556238" y="10559"/>
                    <a:pt x="1556238" y="23584"/>
                  </a:cubicBezTo>
                  <a:lnTo>
                    <a:pt x="1556238" y="1965974"/>
                  </a:lnTo>
                  <a:cubicBezTo>
                    <a:pt x="1556238" y="1978999"/>
                    <a:pt x="1545679" y="1989558"/>
                    <a:pt x="1532654" y="1989558"/>
                  </a:cubicBezTo>
                  <a:lnTo>
                    <a:pt x="23584" y="1989558"/>
                  </a:lnTo>
                  <a:cubicBezTo>
                    <a:pt x="10559" y="1989558"/>
                    <a:pt x="0" y="1978999"/>
                    <a:pt x="0" y="1965974"/>
                  </a:cubicBezTo>
                  <a:lnTo>
                    <a:pt x="0" y="23584"/>
                  </a:lnTo>
                  <a:cubicBezTo>
                    <a:pt x="0" y="10559"/>
                    <a:pt x="10559" y="0"/>
                    <a:pt x="23584" y="0"/>
                  </a:cubicBezTo>
                  <a:close/>
                </a:path>
              </a:pathLst>
            </a:custGeom>
            <a:solidFill>
              <a:srgbClr val="FFFFFF"/>
            </a:solidFill>
          </p:spPr>
        </p:sp>
        <p:sp>
          <p:nvSpPr>
            <p:cNvPr name="TextBox 19" id="19"/>
            <p:cNvSpPr txBox="true"/>
            <p:nvPr/>
          </p:nvSpPr>
          <p:spPr>
            <a:xfrm>
              <a:off x="0" y="-38100"/>
              <a:ext cx="1556238" cy="2027658"/>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2469205" y="6290882"/>
            <a:ext cx="5372632" cy="3320734"/>
            <a:chOff x="0" y="0"/>
            <a:chExt cx="832361" cy="514469"/>
          </a:xfrm>
        </p:grpSpPr>
        <p:sp>
          <p:nvSpPr>
            <p:cNvPr name="Freeform 21" id="21"/>
            <p:cNvSpPr/>
            <p:nvPr/>
          </p:nvSpPr>
          <p:spPr>
            <a:xfrm flipH="false" flipV="false" rot="0">
              <a:off x="0" y="0"/>
              <a:ext cx="832361" cy="514469"/>
            </a:xfrm>
            <a:custGeom>
              <a:avLst/>
              <a:gdLst/>
              <a:ahLst/>
              <a:cxnLst/>
              <a:rect r="r" b="b" t="t" l="l"/>
              <a:pathLst>
                <a:path h="514469" w="832361">
                  <a:moveTo>
                    <a:pt x="23056" y="0"/>
                  </a:moveTo>
                  <a:lnTo>
                    <a:pt x="809305" y="0"/>
                  </a:lnTo>
                  <a:cubicBezTo>
                    <a:pt x="815420" y="0"/>
                    <a:pt x="821284" y="2429"/>
                    <a:pt x="825608" y="6753"/>
                  </a:cubicBezTo>
                  <a:cubicBezTo>
                    <a:pt x="829932" y="11077"/>
                    <a:pt x="832361" y="16941"/>
                    <a:pt x="832361" y="23056"/>
                  </a:cubicBezTo>
                  <a:lnTo>
                    <a:pt x="832361" y="491413"/>
                  </a:lnTo>
                  <a:cubicBezTo>
                    <a:pt x="832361" y="504146"/>
                    <a:pt x="822039" y="514469"/>
                    <a:pt x="809305" y="514469"/>
                  </a:cubicBezTo>
                  <a:lnTo>
                    <a:pt x="23056" y="514469"/>
                  </a:lnTo>
                  <a:cubicBezTo>
                    <a:pt x="10322" y="514469"/>
                    <a:pt x="0" y="504146"/>
                    <a:pt x="0" y="491413"/>
                  </a:cubicBezTo>
                  <a:lnTo>
                    <a:pt x="0" y="23056"/>
                  </a:lnTo>
                  <a:cubicBezTo>
                    <a:pt x="0" y="10322"/>
                    <a:pt x="10322" y="0"/>
                    <a:pt x="23056" y="0"/>
                  </a:cubicBezTo>
                  <a:close/>
                </a:path>
              </a:pathLst>
            </a:custGeom>
            <a:blipFill>
              <a:blip r:embed="rId3"/>
              <a:stretch>
                <a:fillRect l="0" t="-3795" r="0" b="-3795"/>
              </a:stretch>
            </a:blipFill>
          </p:spPr>
        </p:sp>
      </p:grpSp>
      <p:sp>
        <p:nvSpPr>
          <p:cNvPr name="TextBox 22" id="22"/>
          <p:cNvSpPr txBox="true"/>
          <p:nvPr/>
        </p:nvSpPr>
        <p:spPr>
          <a:xfrm rot="0">
            <a:off x="913790" y="4204906"/>
            <a:ext cx="5718884" cy="1130506"/>
          </a:xfrm>
          <a:prstGeom prst="rect">
            <a:avLst/>
          </a:prstGeom>
        </p:spPr>
        <p:txBody>
          <a:bodyPr anchor="t" rtlCol="false" tIns="0" lIns="0" bIns="0" rIns="0">
            <a:spAutoFit/>
          </a:bodyPr>
          <a:lstStyle/>
          <a:p>
            <a:pPr algn="l" marL="0" indent="0" lvl="0">
              <a:lnSpc>
                <a:spcPts val="4383"/>
              </a:lnSpc>
            </a:pPr>
            <a:r>
              <a:rPr lang="en-US" sz="4383" spc="-131">
                <a:solidFill>
                  <a:srgbClr val="0A3D62"/>
                </a:solidFill>
                <a:latin typeface="DM Sans"/>
                <a:ea typeface="DM Sans"/>
                <a:cs typeface="DM Sans"/>
                <a:sym typeface="DM Sans"/>
              </a:rPr>
              <a:t>Drowsin</a:t>
            </a:r>
            <a:r>
              <a:rPr lang="en-US" sz="4383" spc="-131">
                <a:solidFill>
                  <a:srgbClr val="0A3D62"/>
                </a:solidFill>
                <a:latin typeface="DM Sans"/>
                <a:ea typeface="DM Sans"/>
                <a:cs typeface="DM Sans"/>
                <a:sym typeface="DM Sans"/>
              </a:rPr>
              <a:t>ess detection &amp; Alert generation</a:t>
            </a:r>
          </a:p>
        </p:txBody>
      </p:sp>
      <p:grpSp>
        <p:nvGrpSpPr>
          <p:cNvPr name="Group 23" id="23"/>
          <p:cNvGrpSpPr/>
          <p:nvPr/>
        </p:nvGrpSpPr>
        <p:grpSpPr>
          <a:xfrm rot="0">
            <a:off x="12567228" y="1028700"/>
            <a:ext cx="4924589" cy="3320734"/>
            <a:chOff x="0" y="0"/>
            <a:chExt cx="762948" cy="514469"/>
          </a:xfrm>
        </p:grpSpPr>
        <p:sp>
          <p:nvSpPr>
            <p:cNvPr name="Freeform 24" id="24"/>
            <p:cNvSpPr/>
            <p:nvPr/>
          </p:nvSpPr>
          <p:spPr>
            <a:xfrm flipH="false" flipV="false" rot="0">
              <a:off x="0" y="0"/>
              <a:ext cx="762948" cy="514469"/>
            </a:xfrm>
            <a:custGeom>
              <a:avLst/>
              <a:gdLst/>
              <a:ahLst/>
              <a:cxnLst/>
              <a:rect r="r" b="b" t="t" l="l"/>
              <a:pathLst>
                <a:path h="514469" w="762948">
                  <a:moveTo>
                    <a:pt x="25154" y="0"/>
                  </a:moveTo>
                  <a:lnTo>
                    <a:pt x="737794" y="0"/>
                  </a:lnTo>
                  <a:cubicBezTo>
                    <a:pt x="751686" y="0"/>
                    <a:pt x="762948" y="11262"/>
                    <a:pt x="762948" y="25154"/>
                  </a:cubicBezTo>
                  <a:lnTo>
                    <a:pt x="762948" y="489315"/>
                  </a:lnTo>
                  <a:cubicBezTo>
                    <a:pt x="762948" y="503207"/>
                    <a:pt x="751686" y="514469"/>
                    <a:pt x="737794" y="514469"/>
                  </a:cubicBezTo>
                  <a:lnTo>
                    <a:pt x="25154" y="514469"/>
                  </a:lnTo>
                  <a:cubicBezTo>
                    <a:pt x="11262" y="514469"/>
                    <a:pt x="0" y="503207"/>
                    <a:pt x="0" y="489315"/>
                  </a:cubicBezTo>
                  <a:lnTo>
                    <a:pt x="0" y="25154"/>
                  </a:lnTo>
                  <a:cubicBezTo>
                    <a:pt x="0" y="11262"/>
                    <a:pt x="11262" y="0"/>
                    <a:pt x="25154" y="0"/>
                  </a:cubicBezTo>
                  <a:close/>
                </a:path>
              </a:pathLst>
            </a:custGeom>
            <a:blipFill>
              <a:blip r:embed="rId4"/>
              <a:stretch>
                <a:fillRect l="-42" t="0" r="-42" b="0"/>
              </a:stretch>
            </a:blipFill>
          </p:spPr>
        </p:sp>
      </p:grpSp>
      <p:sp>
        <p:nvSpPr>
          <p:cNvPr name="TextBox 25" id="25"/>
          <p:cNvSpPr txBox="true"/>
          <p:nvPr/>
        </p:nvSpPr>
        <p:spPr>
          <a:xfrm rot="0">
            <a:off x="913790" y="5466444"/>
            <a:ext cx="5823485" cy="683881"/>
          </a:xfrm>
          <a:prstGeom prst="rect">
            <a:avLst/>
          </a:prstGeom>
        </p:spPr>
        <p:txBody>
          <a:bodyPr anchor="t" rtlCol="false" tIns="0" lIns="0" bIns="0" rIns="0">
            <a:spAutoFit/>
          </a:bodyPr>
          <a:lstStyle/>
          <a:p>
            <a:pPr algn="l" marL="0" indent="0" lvl="0">
              <a:lnSpc>
                <a:spcPts val="2654"/>
              </a:lnSpc>
            </a:pPr>
            <a:r>
              <a:rPr lang="en-US" sz="2212" strike="noStrike" u="none">
                <a:solidFill>
                  <a:srgbClr val="0A3D62"/>
                </a:solidFill>
                <a:latin typeface="DM Sans"/>
                <a:ea typeface="DM Sans"/>
                <a:cs typeface="DM Sans"/>
                <a:sym typeface="DM Sans"/>
              </a:rPr>
              <a:t>Continuously records the driver’s face to analyze eye activity and head movements.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4F8"/>
        </a:solidFill>
      </p:bgPr>
    </p:bg>
    <p:spTree>
      <p:nvGrpSpPr>
        <p:cNvPr id="1" name=""/>
        <p:cNvGrpSpPr/>
        <p:nvPr/>
      </p:nvGrpSpPr>
      <p:grpSpPr>
        <a:xfrm>
          <a:off x="0" y="0"/>
          <a:ext cx="0" cy="0"/>
          <a:chOff x="0" y="0"/>
          <a:chExt cx="0" cy="0"/>
        </a:xfrm>
      </p:grpSpPr>
      <p:grpSp>
        <p:nvGrpSpPr>
          <p:cNvPr name="Group 2" id="2"/>
          <p:cNvGrpSpPr/>
          <p:nvPr/>
        </p:nvGrpSpPr>
        <p:grpSpPr>
          <a:xfrm rot="0">
            <a:off x="10709224" y="1028700"/>
            <a:ext cx="7240258" cy="8229600"/>
            <a:chOff x="0" y="0"/>
            <a:chExt cx="1121705" cy="1274980"/>
          </a:xfrm>
        </p:grpSpPr>
        <p:sp>
          <p:nvSpPr>
            <p:cNvPr name="Freeform 3" id="3"/>
            <p:cNvSpPr/>
            <p:nvPr/>
          </p:nvSpPr>
          <p:spPr>
            <a:xfrm flipH="false" flipV="false" rot="0">
              <a:off x="0" y="0"/>
              <a:ext cx="1121705" cy="1274980"/>
            </a:xfrm>
            <a:custGeom>
              <a:avLst/>
              <a:gdLst/>
              <a:ahLst/>
              <a:cxnLst/>
              <a:rect r="r" b="b" t="t" l="l"/>
              <a:pathLst>
                <a:path h="1274980" w="1121705">
                  <a:moveTo>
                    <a:pt x="32079" y="0"/>
                  </a:moveTo>
                  <a:lnTo>
                    <a:pt x="1089627" y="0"/>
                  </a:lnTo>
                  <a:cubicBezTo>
                    <a:pt x="1098135" y="0"/>
                    <a:pt x="1106294" y="3380"/>
                    <a:pt x="1112310" y="9396"/>
                  </a:cubicBezTo>
                  <a:cubicBezTo>
                    <a:pt x="1118326" y="15412"/>
                    <a:pt x="1121705" y="23571"/>
                    <a:pt x="1121705" y="32079"/>
                  </a:cubicBezTo>
                  <a:lnTo>
                    <a:pt x="1121705" y="1242902"/>
                  </a:lnTo>
                  <a:cubicBezTo>
                    <a:pt x="1121705" y="1260618"/>
                    <a:pt x="1107343" y="1274980"/>
                    <a:pt x="1089627" y="1274980"/>
                  </a:cubicBezTo>
                  <a:lnTo>
                    <a:pt x="32079" y="1274980"/>
                  </a:lnTo>
                  <a:cubicBezTo>
                    <a:pt x="14362" y="1274980"/>
                    <a:pt x="0" y="1260618"/>
                    <a:pt x="0" y="1242902"/>
                  </a:cubicBezTo>
                  <a:lnTo>
                    <a:pt x="0" y="32079"/>
                  </a:lnTo>
                  <a:cubicBezTo>
                    <a:pt x="0" y="14362"/>
                    <a:pt x="14362" y="0"/>
                    <a:pt x="32079" y="0"/>
                  </a:cubicBezTo>
                  <a:close/>
                </a:path>
              </a:pathLst>
            </a:custGeom>
            <a:blipFill>
              <a:blip r:embed="rId2"/>
              <a:stretch>
                <a:fillRect l="-6832" t="0" r="-6832" b="0"/>
              </a:stretch>
            </a:blipFill>
          </p:spPr>
        </p:sp>
      </p:grpSp>
      <p:grpSp>
        <p:nvGrpSpPr>
          <p:cNvPr name="Group 4" id="4"/>
          <p:cNvGrpSpPr/>
          <p:nvPr/>
        </p:nvGrpSpPr>
        <p:grpSpPr>
          <a:xfrm rot="0">
            <a:off x="571500" y="630170"/>
            <a:ext cx="9994350" cy="7130928"/>
            <a:chOff x="0" y="0"/>
            <a:chExt cx="13325800" cy="9507904"/>
          </a:xfrm>
        </p:grpSpPr>
        <p:sp>
          <p:nvSpPr>
            <p:cNvPr name="TextBox 5" id="5"/>
            <p:cNvSpPr txBox="true"/>
            <p:nvPr/>
          </p:nvSpPr>
          <p:spPr>
            <a:xfrm rot="0">
              <a:off x="0" y="114300"/>
              <a:ext cx="11856402" cy="1167095"/>
            </a:xfrm>
            <a:prstGeom prst="rect">
              <a:avLst/>
            </a:prstGeom>
          </p:spPr>
          <p:txBody>
            <a:bodyPr anchor="t" rtlCol="false" tIns="0" lIns="0" bIns="0" rIns="0">
              <a:spAutoFit/>
            </a:bodyPr>
            <a:lstStyle/>
            <a:p>
              <a:pPr algn="l" marL="0" indent="0" lvl="0">
                <a:lnSpc>
                  <a:spcPts val="6336"/>
                </a:lnSpc>
              </a:pPr>
              <a:r>
                <a:rPr lang="en-US" b="true" sz="6336" spc="-190">
                  <a:solidFill>
                    <a:srgbClr val="0A3D62"/>
                  </a:solidFill>
                  <a:latin typeface="DM Sans Bold"/>
                  <a:ea typeface="DM Sans Bold"/>
                  <a:cs typeface="DM Sans Bold"/>
                  <a:sym typeface="DM Sans Bold"/>
                </a:rPr>
                <a:t>System Overview</a:t>
              </a:r>
            </a:p>
          </p:txBody>
        </p:sp>
        <p:sp>
          <p:nvSpPr>
            <p:cNvPr name="TextBox 6" id="6"/>
            <p:cNvSpPr txBox="true"/>
            <p:nvPr/>
          </p:nvSpPr>
          <p:spPr>
            <a:xfrm rot="0">
              <a:off x="0" y="4011979"/>
              <a:ext cx="13325800" cy="5495925"/>
            </a:xfrm>
            <a:prstGeom prst="rect">
              <a:avLst/>
            </a:prstGeom>
          </p:spPr>
          <p:txBody>
            <a:bodyPr anchor="t" rtlCol="false" tIns="0" lIns="0" bIns="0" rIns="0">
              <a:spAutoFit/>
            </a:bodyPr>
            <a:lstStyle/>
            <a:p>
              <a:pPr algn="l" marL="0" indent="0" lvl="0">
                <a:lnSpc>
                  <a:spcPts val="3600"/>
                </a:lnSpc>
              </a:pPr>
              <a:r>
                <a:rPr lang="en-US" sz="3000">
                  <a:solidFill>
                    <a:srgbClr val="0A3D62"/>
                  </a:solidFill>
                  <a:latin typeface="DM Sans"/>
                  <a:ea typeface="DM Sans"/>
                  <a:cs typeface="DM Sans"/>
                  <a:sym typeface="DM Sans"/>
                </a:rPr>
                <a:t>The system architecture shows how data flows between the components to detect accidents and trigger alerts. The camera captures real-time information and sends it to the Arduino Uno, while the MEMS sensor provides motion and impact data to the processing unit. The processing unit analyzes this data and displays the results on an LCD screen. If an accident is detected, the buzzer and alert system are activated to notify people and initiate emergency response. </a:t>
              </a:r>
            </a:p>
          </p:txBody>
        </p:sp>
        <p:sp>
          <p:nvSpPr>
            <p:cNvPr name="TextBox 7" id="7"/>
            <p:cNvSpPr txBox="true"/>
            <p:nvPr/>
          </p:nvSpPr>
          <p:spPr>
            <a:xfrm rot="0">
              <a:off x="0" y="2887463"/>
              <a:ext cx="11856402" cy="865797"/>
            </a:xfrm>
            <a:prstGeom prst="rect">
              <a:avLst/>
            </a:prstGeom>
          </p:spPr>
          <p:txBody>
            <a:bodyPr anchor="t" rtlCol="false" tIns="0" lIns="0" bIns="0" rIns="0">
              <a:spAutoFit/>
            </a:bodyPr>
            <a:lstStyle/>
            <a:p>
              <a:pPr algn="l" marL="0" indent="0" lvl="0">
                <a:lnSpc>
                  <a:spcPts val="4752"/>
                </a:lnSpc>
              </a:pPr>
              <a:r>
                <a:rPr lang="en-US" sz="4752" spc="-142">
                  <a:solidFill>
                    <a:srgbClr val="0A3D62"/>
                  </a:solidFill>
                  <a:latin typeface="DM Sans"/>
                  <a:ea typeface="DM Sans"/>
                  <a:cs typeface="DM Sans"/>
                  <a:sym typeface="DM Sans"/>
                </a:rPr>
                <a:t>Architecture Diagram</a:t>
              </a: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0A3D62"/>
        </a:solidFill>
      </p:bgPr>
    </p:bg>
    <p:spTree>
      <p:nvGrpSpPr>
        <p:cNvPr id="1" name=""/>
        <p:cNvGrpSpPr/>
        <p:nvPr/>
      </p:nvGrpSpPr>
      <p:grpSpPr>
        <a:xfrm>
          <a:off x="0" y="0"/>
          <a:ext cx="0" cy="0"/>
          <a:chOff x="0" y="0"/>
          <a:chExt cx="0" cy="0"/>
        </a:xfrm>
      </p:grpSpPr>
      <p:grpSp>
        <p:nvGrpSpPr>
          <p:cNvPr name="Group 2" id="2"/>
          <p:cNvGrpSpPr/>
          <p:nvPr/>
        </p:nvGrpSpPr>
        <p:grpSpPr>
          <a:xfrm rot="0">
            <a:off x="571500" y="7277067"/>
            <a:ext cx="8429625" cy="2438433"/>
            <a:chOff x="0" y="0"/>
            <a:chExt cx="2112884" cy="611193"/>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2112884" cy="611193"/>
            </a:xfrm>
            <a:custGeom>
              <a:avLst/>
              <a:gdLst/>
              <a:ahLst/>
              <a:cxnLst/>
              <a:rect r="r" b="b" t="t" l="l"/>
              <a:pathLst>
                <a:path h="611193" w="2112884">
                  <a:moveTo>
                    <a:pt x="18368" y="0"/>
                  </a:moveTo>
                  <a:lnTo>
                    <a:pt x="2094515" y="0"/>
                  </a:lnTo>
                  <a:cubicBezTo>
                    <a:pt x="2099387" y="0"/>
                    <a:pt x="2104059" y="1935"/>
                    <a:pt x="2107504" y="5380"/>
                  </a:cubicBezTo>
                  <a:cubicBezTo>
                    <a:pt x="2110948" y="8825"/>
                    <a:pt x="2112884" y="13497"/>
                    <a:pt x="2112884" y="18368"/>
                  </a:cubicBezTo>
                  <a:lnTo>
                    <a:pt x="2112884" y="592824"/>
                  </a:lnTo>
                  <a:cubicBezTo>
                    <a:pt x="2112884" y="597696"/>
                    <a:pt x="2110948" y="602368"/>
                    <a:pt x="2107504" y="605813"/>
                  </a:cubicBezTo>
                  <a:cubicBezTo>
                    <a:pt x="2104059" y="609257"/>
                    <a:pt x="2099387" y="611193"/>
                    <a:pt x="2094515" y="611193"/>
                  </a:cubicBezTo>
                  <a:lnTo>
                    <a:pt x="18368" y="611193"/>
                  </a:lnTo>
                  <a:cubicBezTo>
                    <a:pt x="13497" y="611193"/>
                    <a:pt x="8825" y="609257"/>
                    <a:pt x="5380" y="605813"/>
                  </a:cubicBezTo>
                  <a:cubicBezTo>
                    <a:pt x="1935" y="602368"/>
                    <a:pt x="0" y="597696"/>
                    <a:pt x="0" y="592824"/>
                  </a:cubicBezTo>
                  <a:lnTo>
                    <a:pt x="0" y="18368"/>
                  </a:lnTo>
                  <a:cubicBezTo>
                    <a:pt x="0" y="13497"/>
                    <a:pt x="1935" y="8825"/>
                    <a:pt x="5380" y="5380"/>
                  </a:cubicBezTo>
                  <a:cubicBezTo>
                    <a:pt x="8825" y="1935"/>
                    <a:pt x="13497" y="0"/>
                    <a:pt x="18368" y="0"/>
                  </a:cubicBezTo>
                  <a:close/>
                </a:path>
              </a:pathLst>
            </a:custGeom>
            <a:solidFill>
              <a:srgbClr val="FFFFFF"/>
            </a:solidFill>
          </p:spPr>
        </p:sp>
        <p:sp>
          <p:nvSpPr>
            <p:cNvPr name="TextBox 4" id="4"/>
            <p:cNvSpPr txBox="true"/>
            <p:nvPr/>
          </p:nvSpPr>
          <p:spPr>
            <a:xfrm>
              <a:off x="0" y="47625"/>
              <a:ext cx="2112884" cy="563568"/>
            </a:xfrm>
            <a:prstGeom prst="rect">
              <a:avLst/>
            </a:prstGeom>
          </p:spPr>
          <p:txBody>
            <a:bodyPr anchor="ctr" rtlCol="false" tIns="50800" lIns="50800" bIns="50800" rIns="50800"/>
            <a:lstStyle/>
            <a:p>
              <a:pPr algn="ctr">
                <a:lnSpc>
                  <a:spcPts val="3000"/>
                </a:lnSpc>
              </a:pPr>
            </a:p>
          </p:txBody>
        </p:sp>
      </p:grpSp>
      <p:grpSp>
        <p:nvGrpSpPr>
          <p:cNvPr name="Group 5" id="5"/>
          <p:cNvGrpSpPr/>
          <p:nvPr/>
        </p:nvGrpSpPr>
        <p:grpSpPr>
          <a:xfrm rot="0">
            <a:off x="571500" y="4556646"/>
            <a:ext cx="8429625" cy="2438433"/>
            <a:chOff x="0" y="0"/>
            <a:chExt cx="2112884" cy="611193"/>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2112884" cy="611193"/>
            </a:xfrm>
            <a:custGeom>
              <a:avLst/>
              <a:gdLst/>
              <a:ahLst/>
              <a:cxnLst/>
              <a:rect r="r" b="b" t="t" l="l"/>
              <a:pathLst>
                <a:path h="611193" w="2112884">
                  <a:moveTo>
                    <a:pt x="18368" y="0"/>
                  </a:moveTo>
                  <a:lnTo>
                    <a:pt x="2094515" y="0"/>
                  </a:lnTo>
                  <a:cubicBezTo>
                    <a:pt x="2099387" y="0"/>
                    <a:pt x="2104059" y="1935"/>
                    <a:pt x="2107504" y="5380"/>
                  </a:cubicBezTo>
                  <a:cubicBezTo>
                    <a:pt x="2110948" y="8825"/>
                    <a:pt x="2112884" y="13497"/>
                    <a:pt x="2112884" y="18368"/>
                  </a:cubicBezTo>
                  <a:lnTo>
                    <a:pt x="2112884" y="592824"/>
                  </a:lnTo>
                  <a:cubicBezTo>
                    <a:pt x="2112884" y="597696"/>
                    <a:pt x="2110948" y="602368"/>
                    <a:pt x="2107504" y="605813"/>
                  </a:cubicBezTo>
                  <a:cubicBezTo>
                    <a:pt x="2104059" y="609257"/>
                    <a:pt x="2099387" y="611193"/>
                    <a:pt x="2094515" y="611193"/>
                  </a:cubicBezTo>
                  <a:lnTo>
                    <a:pt x="18368" y="611193"/>
                  </a:lnTo>
                  <a:cubicBezTo>
                    <a:pt x="13497" y="611193"/>
                    <a:pt x="8825" y="609257"/>
                    <a:pt x="5380" y="605813"/>
                  </a:cubicBezTo>
                  <a:cubicBezTo>
                    <a:pt x="1935" y="602368"/>
                    <a:pt x="0" y="597696"/>
                    <a:pt x="0" y="592824"/>
                  </a:cubicBezTo>
                  <a:lnTo>
                    <a:pt x="0" y="18368"/>
                  </a:lnTo>
                  <a:cubicBezTo>
                    <a:pt x="0" y="13497"/>
                    <a:pt x="1935" y="8825"/>
                    <a:pt x="5380" y="5380"/>
                  </a:cubicBezTo>
                  <a:cubicBezTo>
                    <a:pt x="8825" y="1935"/>
                    <a:pt x="13497" y="0"/>
                    <a:pt x="18368" y="0"/>
                  </a:cubicBezTo>
                  <a:close/>
                </a:path>
              </a:pathLst>
            </a:custGeom>
            <a:solidFill>
              <a:srgbClr val="FFFFFF"/>
            </a:solidFill>
          </p:spPr>
        </p:sp>
        <p:sp>
          <p:nvSpPr>
            <p:cNvPr name="TextBox 7" id="7"/>
            <p:cNvSpPr txBox="true"/>
            <p:nvPr/>
          </p:nvSpPr>
          <p:spPr>
            <a:xfrm>
              <a:off x="0" y="47625"/>
              <a:ext cx="2112884" cy="563568"/>
            </a:xfrm>
            <a:prstGeom prst="rect">
              <a:avLst/>
            </a:prstGeom>
          </p:spPr>
          <p:txBody>
            <a:bodyPr anchor="ctr" rtlCol="false" tIns="50800" lIns="50800" bIns="50800" rIns="50800"/>
            <a:lstStyle/>
            <a:p>
              <a:pPr algn="ctr">
                <a:lnSpc>
                  <a:spcPts val="3000"/>
                </a:lnSpc>
              </a:pPr>
            </a:p>
          </p:txBody>
        </p:sp>
      </p:grpSp>
      <p:grpSp>
        <p:nvGrpSpPr>
          <p:cNvPr name="Group 8" id="8"/>
          <p:cNvGrpSpPr/>
          <p:nvPr/>
        </p:nvGrpSpPr>
        <p:grpSpPr>
          <a:xfrm rot="0">
            <a:off x="931606" y="4852343"/>
            <a:ext cx="6621719" cy="1506098"/>
            <a:chOff x="0" y="0"/>
            <a:chExt cx="8828958" cy="2008130"/>
          </a:xfrm>
        </p:grpSpPr>
        <p:sp>
          <p:nvSpPr>
            <p:cNvPr name="TextBox 9" id="9"/>
            <p:cNvSpPr txBox="true"/>
            <p:nvPr/>
          </p:nvSpPr>
          <p:spPr>
            <a:xfrm rot="0">
              <a:off x="0" y="76200"/>
              <a:ext cx="8828958" cy="838200"/>
            </a:xfrm>
            <a:prstGeom prst="rect">
              <a:avLst/>
            </a:prstGeom>
          </p:spPr>
          <p:txBody>
            <a:bodyPr anchor="t" rtlCol="false" tIns="0" lIns="0" bIns="0" rIns="0">
              <a:spAutoFit/>
            </a:bodyPr>
            <a:lstStyle/>
            <a:p>
              <a:pPr algn="l" marL="0" indent="0" lvl="0">
                <a:lnSpc>
                  <a:spcPts val="4500"/>
                </a:lnSpc>
              </a:pPr>
              <a:r>
                <a:rPr lang="en-US" sz="4500" spc="-135">
                  <a:solidFill>
                    <a:srgbClr val="0A3D62"/>
                  </a:solidFill>
                  <a:latin typeface="DM Sans"/>
                  <a:ea typeface="DM Sans"/>
                  <a:cs typeface="DM Sans"/>
                  <a:sym typeface="DM Sans"/>
                </a:rPr>
                <a:t>Continuous Monitoring</a:t>
              </a:r>
            </a:p>
          </p:txBody>
        </p:sp>
        <p:sp>
          <p:nvSpPr>
            <p:cNvPr name="TextBox 10" id="10"/>
            <p:cNvSpPr txBox="true"/>
            <p:nvPr/>
          </p:nvSpPr>
          <p:spPr>
            <a:xfrm rot="0">
              <a:off x="0" y="1185805"/>
              <a:ext cx="8828958" cy="822325"/>
            </a:xfrm>
            <a:prstGeom prst="rect">
              <a:avLst/>
            </a:prstGeom>
          </p:spPr>
          <p:txBody>
            <a:bodyPr anchor="t" rtlCol="false" tIns="0" lIns="0" bIns="0" rIns="0">
              <a:spAutoFit/>
            </a:bodyPr>
            <a:lstStyle/>
            <a:p>
              <a:pPr algn="l" marL="0" indent="0" lvl="0">
                <a:lnSpc>
                  <a:spcPts val="2400"/>
                </a:lnSpc>
              </a:pPr>
              <a:r>
                <a:rPr lang="en-US" sz="2000" strike="noStrike" u="none">
                  <a:solidFill>
                    <a:srgbClr val="0A3D62"/>
                  </a:solidFill>
                  <a:latin typeface="DM Sans"/>
                  <a:ea typeface="DM Sans"/>
                  <a:cs typeface="DM Sans"/>
                  <a:sym typeface="DM Sans"/>
                </a:rPr>
                <a:t>The system continuously monitors the driver’s behavior using an onboard camera to detect signs of drowsiness.</a:t>
              </a:r>
            </a:p>
          </p:txBody>
        </p:sp>
      </p:grpSp>
      <p:grpSp>
        <p:nvGrpSpPr>
          <p:cNvPr name="Group 11" id="11"/>
          <p:cNvGrpSpPr/>
          <p:nvPr/>
        </p:nvGrpSpPr>
        <p:grpSpPr>
          <a:xfrm rot="0">
            <a:off x="931606" y="7572763"/>
            <a:ext cx="6621719" cy="1810898"/>
            <a:chOff x="0" y="0"/>
            <a:chExt cx="8828958" cy="2414530"/>
          </a:xfrm>
        </p:grpSpPr>
        <p:sp>
          <p:nvSpPr>
            <p:cNvPr name="TextBox 12" id="12"/>
            <p:cNvSpPr txBox="true"/>
            <p:nvPr/>
          </p:nvSpPr>
          <p:spPr>
            <a:xfrm rot="0">
              <a:off x="0" y="76200"/>
              <a:ext cx="8828958" cy="838200"/>
            </a:xfrm>
            <a:prstGeom prst="rect">
              <a:avLst/>
            </a:prstGeom>
          </p:spPr>
          <p:txBody>
            <a:bodyPr anchor="t" rtlCol="false" tIns="0" lIns="0" bIns="0" rIns="0">
              <a:spAutoFit/>
            </a:bodyPr>
            <a:lstStyle/>
            <a:p>
              <a:pPr algn="l" marL="0" indent="0" lvl="0">
                <a:lnSpc>
                  <a:spcPts val="4500"/>
                </a:lnSpc>
              </a:pPr>
              <a:r>
                <a:rPr lang="en-US" sz="4500" spc="-135">
                  <a:solidFill>
                    <a:srgbClr val="0A3D62"/>
                  </a:solidFill>
                  <a:latin typeface="DM Sans"/>
                  <a:ea typeface="DM Sans"/>
                  <a:cs typeface="DM Sans"/>
                  <a:sym typeface="DM Sans"/>
                </a:rPr>
                <a:t>AI Processing</a:t>
              </a:r>
            </a:p>
          </p:txBody>
        </p:sp>
        <p:sp>
          <p:nvSpPr>
            <p:cNvPr name="TextBox 13" id="13"/>
            <p:cNvSpPr txBox="true"/>
            <p:nvPr/>
          </p:nvSpPr>
          <p:spPr>
            <a:xfrm rot="0">
              <a:off x="0" y="1185805"/>
              <a:ext cx="8828958" cy="1228725"/>
            </a:xfrm>
            <a:prstGeom prst="rect">
              <a:avLst/>
            </a:prstGeom>
          </p:spPr>
          <p:txBody>
            <a:bodyPr anchor="t" rtlCol="false" tIns="0" lIns="0" bIns="0" rIns="0">
              <a:spAutoFit/>
            </a:bodyPr>
            <a:lstStyle/>
            <a:p>
              <a:pPr algn="l" marL="0" indent="0" lvl="0">
                <a:lnSpc>
                  <a:spcPts val="2400"/>
                </a:lnSpc>
              </a:pPr>
              <a:r>
                <a:rPr lang="en-US" sz="2000" strike="noStrike" u="none">
                  <a:solidFill>
                    <a:srgbClr val="0A3D62"/>
                  </a:solidFill>
                  <a:latin typeface="DM Sans"/>
                  <a:ea typeface="DM Sans"/>
                  <a:cs typeface="DM Sans"/>
                  <a:sym typeface="DM Sans"/>
                </a:rPr>
                <a:t>AI algorithms analyze input data to identify drowsiness indicators and potential accident scenarios for immediate alerts.</a:t>
              </a:r>
            </a:p>
          </p:txBody>
        </p:sp>
      </p:grpSp>
      <p:grpSp>
        <p:nvGrpSpPr>
          <p:cNvPr name="Group 14" id="14"/>
          <p:cNvGrpSpPr/>
          <p:nvPr/>
        </p:nvGrpSpPr>
        <p:grpSpPr>
          <a:xfrm rot="0">
            <a:off x="9286875" y="7277067"/>
            <a:ext cx="8429625" cy="2438433"/>
            <a:chOff x="0" y="0"/>
            <a:chExt cx="2112884" cy="611193"/>
          </a:xfrm>
        </p:grpSpPr>
        <p:sp>
          <p:nvSpPr>
            <p:cNvPr name="Freeform 15" id="15">
              <a:extLst>
                <a:ext uri="{C183D7F6-B498-43B3-948B-1728B52AA6E4}">
                  <adec:decorative xmlns:adec="http://schemas.microsoft.com/office/drawing/2017/decorative" val="1"/>
                </a:ext>
              </a:extLst>
            </p:cNvPr>
            <p:cNvSpPr/>
            <p:nvPr/>
          </p:nvSpPr>
          <p:spPr>
            <a:xfrm flipH="false" flipV="false" rot="0">
              <a:off x="0" y="0"/>
              <a:ext cx="2112884" cy="611193"/>
            </a:xfrm>
            <a:custGeom>
              <a:avLst/>
              <a:gdLst/>
              <a:ahLst/>
              <a:cxnLst/>
              <a:rect r="r" b="b" t="t" l="l"/>
              <a:pathLst>
                <a:path h="611193" w="2112884">
                  <a:moveTo>
                    <a:pt x="18368" y="0"/>
                  </a:moveTo>
                  <a:lnTo>
                    <a:pt x="2094515" y="0"/>
                  </a:lnTo>
                  <a:cubicBezTo>
                    <a:pt x="2099387" y="0"/>
                    <a:pt x="2104059" y="1935"/>
                    <a:pt x="2107504" y="5380"/>
                  </a:cubicBezTo>
                  <a:cubicBezTo>
                    <a:pt x="2110948" y="8825"/>
                    <a:pt x="2112884" y="13497"/>
                    <a:pt x="2112884" y="18368"/>
                  </a:cubicBezTo>
                  <a:lnTo>
                    <a:pt x="2112884" y="592824"/>
                  </a:lnTo>
                  <a:cubicBezTo>
                    <a:pt x="2112884" y="597696"/>
                    <a:pt x="2110948" y="602368"/>
                    <a:pt x="2107504" y="605813"/>
                  </a:cubicBezTo>
                  <a:cubicBezTo>
                    <a:pt x="2104059" y="609257"/>
                    <a:pt x="2099387" y="611193"/>
                    <a:pt x="2094515" y="611193"/>
                  </a:cubicBezTo>
                  <a:lnTo>
                    <a:pt x="18368" y="611193"/>
                  </a:lnTo>
                  <a:cubicBezTo>
                    <a:pt x="13497" y="611193"/>
                    <a:pt x="8825" y="609257"/>
                    <a:pt x="5380" y="605813"/>
                  </a:cubicBezTo>
                  <a:cubicBezTo>
                    <a:pt x="1935" y="602368"/>
                    <a:pt x="0" y="597696"/>
                    <a:pt x="0" y="592824"/>
                  </a:cubicBezTo>
                  <a:lnTo>
                    <a:pt x="0" y="18368"/>
                  </a:lnTo>
                  <a:cubicBezTo>
                    <a:pt x="0" y="13497"/>
                    <a:pt x="1935" y="8825"/>
                    <a:pt x="5380" y="5380"/>
                  </a:cubicBezTo>
                  <a:cubicBezTo>
                    <a:pt x="8825" y="1935"/>
                    <a:pt x="13497" y="0"/>
                    <a:pt x="18368" y="0"/>
                  </a:cubicBezTo>
                  <a:close/>
                </a:path>
              </a:pathLst>
            </a:custGeom>
            <a:solidFill>
              <a:srgbClr val="FFFFFF"/>
            </a:solidFill>
          </p:spPr>
        </p:sp>
        <p:sp>
          <p:nvSpPr>
            <p:cNvPr name="TextBox 16" id="16"/>
            <p:cNvSpPr txBox="true"/>
            <p:nvPr/>
          </p:nvSpPr>
          <p:spPr>
            <a:xfrm>
              <a:off x="0" y="47625"/>
              <a:ext cx="2112884" cy="563568"/>
            </a:xfrm>
            <a:prstGeom prst="rect">
              <a:avLst/>
            </a:prstGeom>
          </p:spPr>
          <p:txBody>
            <a:bodyPr anchor="ctr" rtlCol="false" tIns="50800" lIns="50800" bIns="50800" rIns="50800"/>
            <a:lstStyle/>
            <a:p>
              <a:pPr algn="ctr">
                <a:lnSpc>
                  <a:spcPts val="3000"/>
                </a:lnSpc>
              </a:pPr>
            </a:p>
          </p:txBody>
        </p:sp>
      </p:grpSp>
      <p:grpSp>
        <p:nvGrpSpPr>
          <p:cNvPr name="Group 17" id="17"/>
          <p:cNvGrpSpPr/>
          <p:nvPr/>
        </p:nvGrpSpPr>
        <p:grpSpPr>
          <a:xfrm rot="0">
            <a:off x="9286875" y="4556646"/>
            <a:ext cx="8429625" cy="2438433"/>
            <a:chOff x="0" y="0"/>
            <a:chExt cx="2112884" cy="611193"/>
          </a:xfrm>
        </p:grpSpPr>
        <p:sp>
          <p:nvSpPr>
            <p:cNvPr name="Freeform 18" id="18">
              <a:extLst>
                <a:ext uri="{C183D7F6-B498-43B3-948B-1728B52AA6E4}">
                  <adec:decorative xmlns:adec="http://schemas.microsoft.com/office/drawing/2017/decorative" val="1"/>
                </a:ext>
              </a:extLst>
            </p:cNvPr>
            <p:cNvSpPr/>
            <p:nvPr/>
          </p:nvSpPr>
          <p:spPr>
            <a:xfrm flipH="false" flipV="false" rot="0">
              <a:off x="0" y="0"/>
              <a:ext cx="2112884" cy="611193"/>
            </a:xfrm>
            <a:custGeom>
              <a:avLst/>
              <a:gdLst/>
              <a:ahLst/>
              <a:cxnLst/>
              <a:rect r="r" b="b" t="t" l="l"/>
              <a:pathLst>
                <a:path h="611193" w="2112884">
                  <a:moveTo>
                    <a:pt x="18368" y="0"/>
                  </a:moveTo>
                  <a:lnTo>
                    <a:pt x="2094515" y="0"/>
                  </a:lnTo>
                  <a:cubicBezTo>
                    <a:pt x="2099387" y="0"/>
                    <a:pt x="2104059" y="1935"/>
                    <a:pt x="2107504" y="5380"/>
                  </a:cubicBezTo>
                  <a:cubicBezTo>
                    <a:pt x="2110948" y="8825"/>
                    <a:pt x="2112884" y="13497"/>
                    <a:pt x="2112884" y="18368"/>
                  </a:cubicBezTo>
                  <a:lnTo>
                    <a:pt x="2112884" y="592824"/>
                  </a:lnTo>
                  <a:cubicBezTo>
                    <a:pt x="2112884" y="597696"/>
                    <a:pt x="2110948" y="602368"/>
                    <a:pt x="2107504" y="605813"/>
                  </a:cubicBezTo>
                  <a:cubicBezTo>
                    <a:pt x="2104059" y="609257"/>
                    <a:pt x="2099387" y="611193"/>
                    <a:pt x="2094515" y="611193"/>
                  </a:cubicBezTo>
                  <a:lnTo>
                    <a:pt x="18368" y="611193"/>
                  </a:lnTo>
                  <a:cubicBezTo>
                    <a:pt x="13497" y="611193"/>
                    <a:pt x="8825" y="609257"/>
                    <a:pt x="5380" y="605813"/>
                  </a:cubicBezTo>
                  <a:cubicBezTo>
                    <a:pt x="1935" y="602368"/>
                    <a:pt x="0" y="597696"/>
                    <a:pt x="0" y="592824"/>
                  </a:cubicBezTo>
                  <a:lnTo>
                    <a:pt x="0" y="18368"/>
                  </a:lnTo>
                  <a:cubicBezTo>
                    <a:pt x="0" y="13497"/>
                    <a:pt x="1935" y="8825"/>
                    <a:pt x="5380" y="5380"/>
                  </a:cubicBezTo>
                  <a:cubicBezTo>
                    <a:pt x="8825" y="1935"/>
                    <a:pt x="13497" y="0"/>
                    <a:pt x="18368" y="0"/>
                  </a:cubicBezTo>
                  <a:close/>
                </a:path>
              </a:pathLst>
            </a:custGeom>
            <a:solidFill>
              <a:srgbClr val="FFFFFF"/>
            </a:solidFill>
          </p:spPr>
        </p:sp>
        <p:sp>
          <p:nvSpPr>
            <p:cNvPr name="TextBox 19" id="19"/>
            <p:cNvSpPr txBox="true"/>
            <p:nvPr/>
          </p:nvSpPr>
          <p:spPr>
            <a:xfrm>
              <a:off x="0" y="47625"/>
              <a:ext cx="2112884" cy="563568"/>
            </a:xfrm>
            <a:prstGeom prst="rect">
              <a:avLst/>
            </a:prstGeom>
          </p:spPr>
          <p:txBody>
            <a:bodyPr anchor="ctr" rtlCol="false" tIns="50800" lIns="50800" bIns="50800" rIns="50800"/>
            <a:lstStyle/>
            <a:p>
              <a:pPr algn="ctr">
                <a:lnSpc>
                  <a:spcPts val="3000"/>
                </a:lnSpc>
              </a:pPr>
            </a:p>
          </p:txBody>
        </p:sp>
      </p:grpSp>
      <p:grpSp>
        <p:nvGrpSpPr>
          <p:cNvPr name="Group 20" id="20"/>
          <p:cNvGrpSpPr/>
          <p:nvPr/>
        </p:nvGrpSpPr>
        <p:grpSpPr>
          <a:xfrm rot="0">
            <a:off x="9763883" y="4852343"/>
            <a:ext cx="6419092" cy="1810898"/>
            <a:chOff x="0" y="0"/>
            <a:chExt cx="8558790" cy="2414530"/>
          </a:xfrm>
        </p:grpSpPr>
        <p:sp>
          <p:nvSpPr>
            <p:cNvPr name="TextBox 21" id="21"/>
            <p:cNvSpPr txBox="true"/>
            <p:nvPr/>
          </p:nvSpPr>
          <p:spPr>
            <a:xfrm rot="0">
              <a:off x="0" y="76200"/>
              <a:ext cx="8558790" cy="838200"/>
            </a:xfrm>
            <a:prstGeom prst="rect">
              <a:avLst/>
            </a:prstGeom>
          </p:spPr>
          <p:txBody>
            <a:bodyPr anchor="t" rtlCol="false" tIns="0" lIns="0" bIns="0" rIns="0">
              <a:spAutoFit/>
            </a:bodyPr>
            <a:lstStyle/>
            <a:p>
              <a:pPr algn="l" marL="0" indent="0" lvl="0">
                <a:lnSpc>
                  <a:spcPts val="4500"/>
                </a:lnSpc>
              </a:pPr>
              <a:r>
                <a:rPr lang="en-US" sz="4500" spc="-135">
                  <a:solidFill>
                    <a:srgbClr val="0A3D62"/>
                  </a:solidFill>
                  <a:latin typeface="DM Sans"/>
                  <a:ea typeface="DM Sans"/>
                  <a:cs typeface="DM Sans"/>
                  <a:sym typeface="DM Sans"/>
                </a:rPr>
                <a:t>Sensor Integration</a:t>
              </a:r>
            </a:p>
          </p:txBody>
        </p:sp>
        <p:sp>
          <p:nvSpPr>
            <p:cNvPr name="TextBox 22" id="22"/>
            <p:cNvSpPr txBox="true"/>
            <p:nvPr/>
          </p:nvSpPr>
          <p:spPr>
            <a:xfrm rot="0">
              <a:off x="0" y="1185805"/>
              <a:ext cx="8558790" cy="1228725"/>
            </a:xfrm>
            <a:prstGeom prst="rect">
              <a:avLst/>
            </a:prstGeom>
          </p:spPr>
          <p:txBody>
            <a:bodyPr anchor="t" rtlCol="false" tIns="0" lIns="0" bIns="0" rIns="0">
              <a:spAutoFit/>
            </a:bodyPr>
            <a:lstStyle/>
            <a:p>
              <a:pPr algn="l" marL="0" indent="0" lvl="0">
                <a:lnSpc>
                  <a:spcPts val="2400"/>
                </a:lnSpc>
              </a:pPr>
              <a:r>
                <a:rPr lang="en-US" sz="2000" strike="noStrike" u="none">
                  <a:solidFill>
                    <a:srgbClr val="0A3D62"/>
                  </a:solidFill>
                  <a:latin typeface="DM Sans"/>
                  <a:ea typeface="DM Sans"/>
                  <a:cs typeface="DM Sans"/>
                  <a:sym typeface="DM Sans"/>
                </a:rPr>
                <a:t>Data is collected from MEMS accelerometer and ultrasonic sensors to assess vehicle status and surroundings in real-time.</a:t>
              </a:r>
            </a:p>
          </p:txBody>
        </p:sp>
      </p:grpSp>
      <p:grpSp>
        <p:nvGrpSpPr>
          <p:cNvPr name="Group 23" id="23"/>
          <p:cNvGrpSpPr/>
          <p:nvPr/>
        </p:nvGrpSpPr>
        <p:grpSpPr>
          <a:xfrm rot="0">
            <a:off x="9763883" y="7572763"/>
            <a:ext cx="6419092" cy="1810898"/>
            <a:chOff x="0" y="0"/>
            <a:chExt cx="8558790" cy="2414530"/>
          </a:xfrm>
        </p:grpSpPr>
        <p:sp>
          <p:nvSpPr>
            <p:cNvPr name="TextBox 24" id="24"/>
            <p:cNvSpPr txBox="true"/>
            <p:nvPr/>
          </p:nvSpPr>
          <p:spPr>
            <a:xfrm rot="0">
              <a:off x="0" y="76200"/>
              <a:ext cx="8558790" cy="838200"/>
            </a:xfrm>
            <a:prstGeom prst="rect">
              <a:avLst/>
            </a:prstGeom>
          </p:spPr>
          <p:txBody>
            <a:bodyPr anchor="t" rtlCol="false" tIns="0" lIns="0" bIns="0" rIns="0">
              <a:spAutoFit/>
            </a:bodyPr>
            <a:lstStyle/>
            <a:p>
              <a:pPr algn="l" marL="0" indent="0" lvl="0">
                <a:lnSpc>
                  <a:spcPts val="4500"/>
                </a:lnSpc>
              </a:pPr>
              <a:r>
                <a:rPr lang="en-US" sz="4500" spc="-135">
                  <a:solidFill>
                    <a:srgbClr val="0A3D62"/>
                  </a:solidFill>
                  <a:latin typeface="DM Sans"/>
                  <a:ea typeface="DM Sans"/>
                  <a:cs typeface="DM Sans"/>
                  <a:sym typeface="DM Sans"/>
                </a:rPr>
                <a:t>Alert Generation</a:t>
              </a:r>
            </a:p>
          </p:txBody>
        </p:sp>
        <p:sp>
          <p:nvSpPr>
            <p:cNvPr name="TextBox 25" id="25"/>
            <p:cNvSpPr txBox="true"/>
            <p:nvPr/>
          </p:nvSpPr>
          <p:spPr>
            <a:xfrm rot="0">
              <a:off x="0" y="1185805"/>
              <a:ext cx="8558790" cy="1228725"/>
            </a:xfrm>
            <a:prstGeom prst="rect">
              <a:avLst/>
            </a:prstGeom>
          </p:spPr>
          <p:txBody>
            <a:bodyPr anchor="t" rtlCol="false" tIns="0" lIns="0" bIns="0" rIns="0">
              <a:spAutoFit/>
            </a:bodyPr>
            <a:lstStyle/>
            <a:p>
              <a:pPr algn="l" marL="0" indent="0" lvl="0">
                <a:lnSpc>
                  <a:spcPts val="2400"/>
                </a:lnSpc>
              </a:pPr>
              <a:r>
                <a:rPr lang="en-US" sz="2000" strike="noStrike" u="none">
                  <a:solidFill>
                    <a:srgbClr val="0A3D62"/>
                  </a:solidFill>
                  <a:latin typeface="DM Sans"/>
                  <a:ea typeface="DM Sans"/>
                  <a:cs typeface="DM Sans"/>
                  <a:sym typeface="DM Sans"/>
                </a:rPr>
                <a:t>Alerts are triggered instantly upon detecting drowsiness or an accident, ensuring rapid response from emergency services.</a:t>
              </a:r>
            </a:p>
          </p:txBody>
        </p:sp>
      </p:grpSp>
      <p:sp>
        <p:nvSpPr>
          <p:cNvPr name="TextBox 26" id="26"/>
          <p:cNvSpPr txBox="true"/>
          <p:nvPr/>
        </p:nvSpPr>
        <p:spPr>
          <a:xfrm rot="0">
            <a:off x="571500" y="486553"/>
            <a:ext cx="17145000" cy="2352675"/>
          </a:xfrm>
          <a:prstGeom prst="rect">
            <a:avLst/>
          </a:prstGeom>
        </p:spPr>
        <p:txBody>
          <a:bodyPr anchor="t" rtlCol="false" tIns="0" lIns="0" bIns="0" rIns="0">
            <a:spAutoFit/>
          </a:bodyPr>
          <a:lstStyle/>
          <a:p>
            <a:pPr algn="l" marL="0" indent="0" lvl="0">
              <a:lnSpc>
                <a:spcPts val="9000"/>
              </a:lnSpc>
            </a:pPr>
            <a:r>
              <a:rPr lang="en-US" sz="9000" spc="-270">
                <a:solidFill>
                  <a:srgbClr val="FFFFFF"/>
                </a:solidFill>
                <a:latin typeface="DM Sans"/>
                <a:ea typeface="DM Sans"/>
                <a:cs typeface="DM Sans"/>
                <a:sym typeface="DM Sans"/>
              </a:rPr>
              <a:t>Implementation of the Smart System</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0F4F8"/>
        </a:solidFill>
      </p:bgPr>
    </p:bg>
    <p:spTree>
      <p:nvGrpSpPr>
        <p:cNvPr id="1" name=""/>
        <p:cNvGrpSpPr/>
        <p:nvPr/>
      </p:nvGrpSpPr>
      <p:grpSpPr>
        <a:xfrm>
          <a:off x="0" y="0"/>
          <a:ext cx="0" cy="0"/>
          <a:chOff x="0" y="0"/>
          <a:chExt cx="0" cy="0"/>
        </a:xfrm>
      </p:grpSpPr>
      <p:grpSp>
        <p:nvGrpSpPr>
          <p:cNvPr name="Group 2" id="2"/>
          <p:cNvGrpSpPr/>
          <p:nvPr/>
        </p:nvGrpSpPr>
        <p:grpSpPr>
          <a:xfrm rot="0">
            <a:off x="571500" y="7814921"/>
            <a:ext cx="8429625" cy="2052979"/>
            <a:chOff x="0" y="0"/>
            <a:chExt cx="2112884" cy="514579"/>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2112884" cy="514579"/>
            </a:xfrm>
            <a:custGeom>
              <a:avLst/>
              <a:gdLst/>
              <a:ahLst/>
              <a:cxnLst/>
              <a:rect r="r" b="b" t="t" l="l"/>
              <a:pathLst>
                <a:path h="514579" w="2112884">
                  <a:moveTo>
                    <a:pt x="18368" y="0"/>
                  </a:moveTo>
                  <a:lnTo>
                    <a:pt x="2094515" y="0"/>
                  </a:lnTo>
                  <a:cubicBezTo>
                    <a:pt x="2099387" y="0"/>
                    <a:pt x="2104059" y="1935"/>
                    <a:pt x="2107504" y="5380"/>
                  </a:cubicBezTo>
                  <a:cubicBezTo>
                    <a:pt x="2110948" y="8825"/>
                    <a:pt x="2112884" y="13497"/>
                    <a:pt x="2112884" y="18368"/>
                  </a:cubicBezTo>
                  <a:lnTo>
                    <a:pt x="2112884" y="496210"/>
                  </a:lnTo>
                  <a:cubicBezTo>
                    <a:pt x="2112884" y="501082"/>
                    <a:pt x="2110948" y="505754"/>
                    <a:pt x="2107504" y="509199"/>
                  </a:cubicBezTo>
                  <a:cubicBezTo>
                    <a:pt x="2104059" y="512643"/>
                    <a:pt x="2099387" y="514579"/>
                    <a:pt x="2094515" y="514579"/>
                  </a:cubicBezTo>
                  <a:lnTo>
                    <a:pt x="18368" y="514579"/>
                  </a:lnTo>
                  <a:cubicBezTo>
                    <a:pt x="13497" y="514579"/>
                    <a:pt x="8825" y="512643"/>
                    <a:pt x="5380" y="509199"/>
                  </a:cubicBezTo>
                  <a:cubicBezTo>
                    <a:pt x="1935" y="505754"/>
                    <a:pt x="0" y="501082"/>
                    <a:pt x="0" y="496210"/>
                  </a:cubicBezTo>
                  <a:lnTo>
                    <a:pt x="0" y="18368"/>
                  </a:lnTo>
                  <a:cubicBezTo>
                    <a:pt x="0" y="13497"/>
                    <a:pt x="1935" y="8825"/>
                    <a:pt x="5380" y="5380"/>
                  </a:cubicBezTo>
                  <a:cubicBezTo>
                    <a:pt x="8825" y="1935"/>
                    <a:pt x="13497" y="0"/>
                    <a:pt x="18368" y="0"/>
                  </a:cubicBezTo>
                  <a:close/>
                </a:path>
              </a:pathLst>
            </a:custGeom>
            <a:solidFill>
              <a:srgbClr val="0A3D62"/>
            </a:solidFill>
          </p:spPr>
        </p:sp>
        <p:sp>
          <p:nvSpPr>
            <p:cNvPr name="TextBox 4" id="4"/>
            <p:cNvSpPr txBox="true"/>
            <p:nvPr/>
          </p:nvSpPr>
          <p:spPr>
            <a:xfrm>
              <a:off x="0" y="47625"/>
              <a:ext cx="2112884" cy="466954"/>
            </a:xfrm>
            <a:prstGeom prst="rect">
              <a:avLst/>
            </a:prstGeom>
          </p:spPr>
          <p:txBody>
            <a:bodyPr anchor="ctr" rtlCol="false" tIns="50800" lIns="50800" bIns="50800" rIns="50800"/>
            <a:lstStyle/>
            <a:p>
              <a:pPr algn="ctr">
                <a:lnSpc>
                  <a:spcPts val="3000"/>
                </a:lnSpc>
              </a:pPr>
            </a:p>
          </p:txBody>
        </p:sp>
      </p:grpSp>
      <p:grpSp>
        <p:nvGrpSpPr>
          <p:cNvPr name="Group 5" id="5"/>
          <p:cNvGrpSpPr/>
          <p:nvPr/>
        </p:nvGrpSpPr>
        <p:grpSpPr>
          <a:xfrm rot="0">
            <a:off x="571500" y="5349514"/>
            <a:ext cx="8429625" cy="2098096"/>
            <a:chOff x="0" y="0"/>
            <a:chExt cx="2112884" cy="525887"/>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2112884" cy="525887"/>
            </a:xfrm>
            <a:custGeom>
              <a:avLst/>
              <a:gdLst/>
              <a:ahLst/>
              <a:cxnLst/>
              <a:rect r="r" b="b" t="t" l="l"/>
              <a:pathLst>
                <a:path h="525887" w="2112884">
                  <a:moveTo>
                    <a:pt x="18368" y="0"/>
                  </a:moveTo>
                  <a:lnTo>
                    <a:pt x="2094515" y="0"/>
                  </a:lnTo>
                  <a:cubicBezTo>
                    <a:pt x="2099387" y="0"/>
                    <a:pt x="2104059" y="1935"/>
                    <a:pt x="2107504" y="5380"/>
                  </a:cubicBezTo>
                  <a:cubicBezTo>
                    <a:pt x="2110948" y="8825"/>
                    <a:pt x="2112884" y="13497"/>
                    <a:pt x="2112884" y="18368"/>
                  </a:cubicBezTo>
                  <a:lnTo>
                    <a:pt x="2112884" y="507519"/>
                  </a:lnTo>
                  <a:cubicBezTo>
                    <a:pt x="2112884" y="512391"/>
                    <a:pt x="2110948" y="517063"/>
                    <a:pt x="2107504" y="520507"/>
                  </a:cubicBezTo>
                  <a:cubicBezTo>
                    <a:pt x="2104059" y="523952"/>
                    <a:pt x="2099387" y="525887"/>
                    <a:pt x="2094515" y="525887"/>
                  </a:cubicBezTo>
                  <a:lnTo>
                    <a:pt x="18368" y="525887"/>
                  </a:lnTo>
                  <a:cubicBezTo>
                    <a:pt x="13497" y="525887"/>
                    <a:pt x="8825" y="523952"/>
                    <a:pt x="5380" y="520507"/>
                  </a:cubicBezTo>
                  <a:cubicBezTo>
                    <a:pt x="1935" y="517063"/>
                    <a:pt x="0" y="512391"/>
                    <a:pt x="0" y="507519"/>
                  </a:cubicBezTo>
                  <a:lnTo>
                    <a:pt x="0" y="18368"/>
                  </a:lnTo>
                  <a:cubicBezTo>
                    <a:pt x="0" y="13497"/>
                    <a:pt x="1935" y="8825"/>
                    <a:pt x="5380" y="5380"/>
                  </a:cubicBezTo>
                  <a:cubicBezTo>
                    <a:pt x="8825" y="1935"/>
                    <a:pt x="13497" y="0"/>
                    <a:pt x="18368" y="0"/>
                  </a:cubicBezTo>
                  <a:close/>
                </a:path>
              </a:pathLst>
            </a:custGeom>
            <a:solidFill>
              <a:srgbClr val="0A3D62"/>
            </a:solidFill>
          </p:spPr>
        </p:sp>
        <p:sp>
          <p:nvSpPr>
            <p:cNvPr name="TextBox 7" id="7"/>
            <p:cNvSpPr txBox="true"/>
            <p:nvPr/>
          </p:nvSpPr>
          <p:spPr>
            <a:xfrm>
              <a:off x="0" y="47625"/>
              <a:ext cx="2112884" cy="478262"/>
            </a:xfrm>
            <a:prstGeom prst="rect">
              <a:avLst/>
            </a:prstGeom>
          </p:spPr>
          <p:txBody>
            <a:bodyPr anchor="ctr" rtlCol="false" tIns="50800" lIns="50800" bIns="50800" rIns="50800"/>
            <a:lstStyle/>
            <a:p>
              <a:pPr algn="ctr">
                <a:lnSpc>
                  <a:spcPts val="3000"/>
                </a:lnSpc>
              </a:pPr>
            </a:p>
          </p:txBody>
        </p:sp>
      </p:grpSp>
      <p:grpSp>
        <p:nvGrpSpPr>
          <p:cNvPr name="Group 8" id="8"/>
          <p:cNvGrpSpPr/>
          <p:nvPr/>
        </p:nvGrpSpPr>
        <p:grpSpPr>
          <a:xfrm rot="0">
            <a:off x="1028700" y="5619177"/>
            <a:ext cx="6621719" cy="1506098"/>
            <a:chOff x="0" y="0"/>
            <a:chExt cx="8828958" cy="2008130"/>
          </a:xfrm>
        </p:grpSpPr>
        <p:sp>
          <p:nvSpPr>
            <p:cNvPr name="TextBox 9" id="9"/>
            <p:cNvSpPr txBox="true"/>
            <p:nvPr/>
          </p:nvSpPr>
          <p:spPr>
            <a:xfrm rot="0">
              <a:off x="0" y="76200"/>
              <a:ext cx="8828958" cy="838200"/>
            </a:xfrm>
            <a:prstGeom prst="rect">
              <a:avLst/>
            </a:prstGeom>
          </p:spPr>
          <p:txBody>
            <a:bodyPr anchor="t" rtlCol="false" tIns="0" lIns="0" bIns="0" rIns="0">
              <a:spAutoFit/>
            </a:bodyPr>
            <a:lstStyle/>
            <a:p>
              <a:pPr algn="l" marL="0" indent="0" lvl="0">
                <a:lnSpc>
                  <a:spcPts val="4500"/>
                </a:lnSpc>
              </a:pPr>
              <a:r>
                <a:rPr lang="en-US" sz="4500" spc="-135">
                  <a:solidFill>
                    <a:srgbClr val="FFFFFF"/>
                  </a:solidFill>
                  <a:latin typeface="DM Sans"/>
                  <a:ea typeface="DM Sans"/>
                  <a:cs typeface="DM Sans"/>
                  <a:sym typeface="DM Sans"/>
                </a:rPr>
                <a:t>Ultrasonic Sensor</a:t>
              </a:r>
            </a:p>
          </p:txBody>
        </p:sp>
        <p:sp>
          <p:nvSpPr>
            <p:cNvPr name="TextBox 10" id="10"/>
            <p:cNvSpPr txBox="true"/>
            <p:nvPr/>
          </p:nvSpPr>
          <p:spPr>
            <a:xfrm rot="0">
              <a:off x="0" y="1185805"/>
              <a:ext cx="8828958" cy="822325"/>
            </a:xfrm>
            <a:prstGeom prst="rect">
              <a:avLst/>
            </a:prstGeom>
          </p:spPr>
          <p:txBody>
            <a:bodyPr anchor="t" rtlCol="false" tIns="0" lIns="0" bIns="0" rIns="0">
              <a:spAutoFit/>
            </a:bodyPr>
            <a:lstStyle/>
            <a:p>
              <a:pPr algn="l" marL="0" indent="0" lvl="0">
                <a:lnSpc>
                  <a:spcPts val="2400"/>
                </a:lnSpc>
              </a:pPr>
              <a:r>
                <a:rPr lang="en-US" sz="2000" strike="noStrike" u="none">
                  <a:solidFill>
                    <a:srgbClr val="FFFFFF"/>
                  </a:solidFill>
                  <a:latin typeface="DM Sans"/>
                  <a:ea typeface="DM Sans"/>
                  <a:cs typeface="DM Sans"/>
                  <a:sym typeface="DM Sans"/>
                </a:rPr>
                <a:t>Detects obstacles in the vehicle's path, enhancing safety by preventing collisions through alert mechanisms.</a:t>
              </a:r>
            </a:p>
          </p:txBody>
        </p:sp>
      </p:grpSp>
      <p:grpSp>
        <p:nvGrpSpPr>
          <p:cNvPr name="Group 11" id="11"/>
          <p:cNvGrpSpPr/>
          <p:nvPr/>
        </p:nvGrpSpPr>
        <p:grpSpPr>
          <a:xfrm rot="0">
            <a:off x="9286875" y="7814921"/>
            <a:ext cx="8429625" cy="2052979"/>
            <a:chOff x="0" y="0"/>
            <a:chExt cx="2112884" cy="514579"/>
          </a:xfrm>
        </p:grpSpPr>
        <p:sp>
          <p:nvSpPr>
            <p:cNvPr name="Freeform 12" id="12">
              <a:extLst>
                <a:ext uri="{C183D7F6-B498-43B3-948B-1728B52AA6E4}">
                  <adec:decorative xmlns:adec="http://schemas.microsoft.com/office/drawing/2017/decorative" val="1"/>
                </a:ext>
              </a:extLst>
            </p:cNvPr>
            <p:cNvSpPr/>
            <p:nvPr/>
          </p:nvSpPr>
          <p:spPr>
            <a:xfrm flipH="false" flipV="false" rot="0">
              <a:off x="0" y="0"/>
              <a:ext cx="2112884" cy="514579"/>
            </a:xfrm>
            <a:custGeom>
              <a:avLst/>
              <a:gdLst/>
              <a:ahLst/>
              <a:cxnLst/>
              <a:rect r="r" b="b" t="t" l="l"/>
              <a:pathLst>
                <a:path h="514579" w="2112884">
                  <a:moveTo>
                    <a:pt x="18368" y="0"/>
                  </a:moveTo>
                  <a:lnTo>
                    <a:pt x="2094515" y="0"/>
                  </a:lnTo>
                  <a:cubicBezTo>
                    <a:pt x="2099387" y="0"/>
                    <a:pt x="2104059" y="1935"/>
                    <a:pt x="2107504" y="5380"/>
                  </a:cubicBezTo>
                  <a:cubicBezTo>
                    <a:pt x="2110948" y="8825"/>
                    <a:pt x="2112884" y="13497"/>
                    <a:pt x="2112884" y="18368"/>
                  </a:cubicBezTo>
                  <a:lnTo>
                    <a:pt x="2112884" y="496210"/>
                  </a:lnTo>
                  <a:cubicBezTo>
                    <a:pt x="2112884" y="501082"/>
                    <a:pt x="2110948" y="505754"/>
                    <a:pt x="2107504" y="509199"/>
                  </a:cubicBezTo>
                  <a:cubicBezTo>
                    <a:pt x="2104059" y="512643"/>
                    <a:pt x="2099387" y="514579"/>
                    <a:pt x="2094515" y="514579"/>
                  </a:cubicBezTo>
                  <a:lnTo>
                    <a:pt x="18368" y="514579"/>
                  </a:lnTo>
                  <a:cubicBezTo>
                    <a:pt x="13497" y="514579"/>
                    <a:pt x="8825" y="512643"/>
                    <a:pt x="5380" y="509199"/>
                  </a:cubicBezTo>
                  <a:cubicBezTo>
                    <a:pt x="1935" y="505754"/>
                    <a:pt x="0" y="501082"/>
                    <a:pt x="0" y="496210"/>
                  </a:cubicBezTo>
                  <a:lnTo>
                    <a:pt x="0" y="18368"/>
                  </a:lnTo>
                  <a:cubicBezTo>
                    <a:pt x="0" y="13497"/>
                    <a:pt x="1935" y="8825"/>
                    <a:pt x="5380" y="5380"/>
                  </a:cubicBezTo>
                  <a:cubicBezTo>
                    <a:pt x="8825" y="1935"/>
                    <a:pt x="13497" y="0"/>
                    <a:pt x="18368" y="0"/>
                  </a:cubicBezTo>
                  <a:close/>
                </a:path>
              </a:pathLst>
            </a:custGeom>
            <a:solidFill>
              <a:srgbClr val="0A3D62"/>
            </a:solidFill>
          </p:spPr>
        </p:sp>
        <p:sp>
          <p:nvSpPr>
            <p:cNvPr name="TextBox 13" id="13"/>
            <p:cNvSpPr txBox="true"/>
            <p:nvPr/>
          </p:nvSpPr>
          <p:spPr>
            <a:xfrm>
              <a:off x="0" y="47625"/>
              <a:ext cx="2112884" cy="466954"/>
            </a:xfrm>
            <a:prstGeom prst="rect">
              <a:avLst/>
            </a:prstGeom>
          </p:spPr>
          <p:txBody>
            <a:bodyPr anchor="ctr" rtlCol="false" tIns="50800" lIns="50800" bIns="50800" rIns="50800"/>
            <a:lstStyle/>
            <a:p>
              <a:pPr algn="ctr">
                <a:lnSpc>
                  <a:spcPts val="3000"/>
                </a:lnSpc>
              </a:pPr>
            </a:p>
          </p:txBody>
        </p:sp>
      </p:grpSp>
      <p:grpSp>
        <p:nvGrpSpPr>
          <p:cNvPr name="Group 14" id="14"/>
          <p:cNvGrpSpPr/>
          <p:nvPr/>
        </p:nvGrpSpPr>
        <p:grpSpPr>
          <a:xfrm rot="0">
            <a:off x="9286875" y="5349514"/>
            <a:ext cx="8429625" cy="2142737"/>
            <a:chOff x="0" y="0"/>
            <a:chExt cx="2112884" cy="537076"/>
          </a:xfrm>
        </p:grpSpPr>
        <p:sp>
          <p:nvSpPr>
            <p:cNvPr name="Freeform 15" id="15">
              <a:extLst>
                <a:ext uri="{C183D7F6-B498-43B3-948B-1728B52AA6E4}">
                  <adec:decorative xmlns:adec="http://schemas.microsoft.com/office/drawing/2017/decorative" val="1"/>
                </a:ext>
              </a:extLst>
            </p:cNvPr>
            <p:cNvSpPr/>
            <p:nvPr/>
          </p:nvSpPr>
          <p:spPr>
            <a:xfrm flipH="false" flipV="false" rot="0">
              <a:off x="0" y="0"/>
              <a:ext cx="2112884" cy="537076"/>
            </a:xfrm>
            <a:custGeom>
              <a:avLst/>
              <a:gdLst/>
              <a:ahLst/>
              <a:cxnLst/>
              <a:rect r="r" b="b" t="t" l="l"/>
              <a:pathLst>
                <a:path h="537076" w="2112884">
                  <a:moveTo>
                    <a:pt x="18368" y="0"/>
                  </a:moveTo>
                  <a:lnTo>
                    <a:pt x="2094515" y="0"/>
                  </a:lnTo>
                  <a:cubicBezTo>
                    <a:pt x="2099387" y="0"/>
                    <a:pt x="2104059" y="1935"/>
                    <a:pt x="2107504" y="5380"/>
                  </a:cubicBezTo>
                  <a:cubicBezTo>
                    <a:pt x="2110948" y="8825"/>
                    <a:pt x="2112884" y="13497"/>
                    <a:pt x="2112884" y="18368"/>
                  </a:cubicBezTo>
                  <a:lnTo>
                    <a:pt x="2112884" y="518708"/>
                  </a:lnTo>
                  <a:cubicBezTo>
                    <a:pt x="2112884" y="523580"/>
                    <a:pt x="2110948" y="528252"/>
                    <a:pt x="2107504" y="531697"/>
                  </a:cubicBezTo>
                  <a:cubicBezTo>
                    <a:pt x="2104059" y="535141"/>
                    <a:pt x="2099387" y="537076"/>
                    <a:pt x="2094515" y="537076"/>
                  </a:cubicBezTo>
                  <a:lnTo>
                    <a:pt x="18368" y="537076"/>
                  </a:lnTo>
                  <a:cubicBezTo>
                    <a:pt x="13497" y="537076"/>
                    <a:pt x="8825" y="535141"/>
                    <a:pt x="5380" y="531697"/>
                  </a:cubicBezTo>
                  <a:cubicBezTo>
                    <a:pt x="1935" y="528252"/>
                    <a:pt x="0" y="523580"/>
                    <a:pt x="0" y="518708"/>
                  </a:cubicBezTo>
                  <a:lnTo>
                    <a:pt x="0" y="18368"/>
                  </a:lnTo>
                  <a:cubicBezTo>
                    <a:pt x="0" y="13497"/>
                    <a:pt x="1935" y="8825"/>
                    <a:pt x="5380" y="5380"/>
                  </a:cubicBezTo>
                  <a:cubicBezTo>
                    <a:pt x="8825" y="1935"/>
                    <a:pt x="13497" y="0"/>
                    <a:pt x="18368" y="0"/>
                  </a:cubicBezTo>
                  <a:close/>
                </a:path>
              </a:pathLst>
            </a:custGeom>
            <a:solidFill>
              <a:srgbClr val="0A3D62"/>
            </a:solidFill>
          </p:spPr>
        </p:sp>
        <p:sp>
          <p:nvSpPr>
            <p:cNvPr name="TextBox 16" id="16"/>
            <p:cNvSpPr txBox="true"/>
            <p:nvPr/>
          </p:nvSpPr>
          <p:spPr>
            <a:xfrm>
              <a:off x="0" y="47625"/>
              <a:ext cx="2112884" cy="489451"/>
            </a:xfrm>
            <a:prstGeom prst="rect">
              <a:avLst/>
            </a:prstGeom>
          </p:spPr>
          <p:txBody>
            <a:bodyPr anchor="ctr" rtlCol="false" tIns="50800" lIns="50800" bIns="50800" rIns="50800"/>
            <a:lstStyle/>
            <a:p>
              <a:pPr algn="ctr">
                <a:lnSpc>
                  <a:spcPts val="3000"/>
                </a:lnSpc>
              </a:pPr>
            </a:p>
          </p:txBody>
        </p:sp>
      </p:grpSp>
      <p:grpSp>
        <p:nvGrpSpPr>
          <p:cNvPr name="Group 17" id="17"/>
          <p:cNvGrpSpPr/>
          <p:nvPr/>
        </p:nvGrpSpPr>
        <p:grpSpPr>
          <a:xfrm rot="0">
            <a:off x="9602587" y="5466777"/>
            <a:ext cx="6419092" cy="1810898"/>
            <a:chOff x="0" y="0"/>
            <a:chExt cx="8558790" cy="2414530"/>
          </a:xfrm>
        </p:grpSpPr>
        <p:sp>
          <p:nvSpPr>
            <p:cNvPr name="TextBox 18" id="18"/>
            <p:cNvSpPr txBox="true"/>
            <p:nvPr/>
          </p:nvSpPr>
          <p:spPr>
            <a:xfrm rot="0">
              <a:off x="0" y="76200"/>
              <a:ext cx="8558790" cy="838200"/>
            </a:xfrm>
            <a:prstGeom prst="rect">
              <a:avLst/>
            </a:prstGeom>
          </p:spPr>
          <p:txBody>
            <a:bodyPr anchor="t" rtlCol="false" tIns="0" lIns="0" bIns="0" rIns="0">
              <a:spAutoFit/>
            </a:bodyPr>
            <a:lstStyle/>
            <a:p>
              <a:pPr algn="l" marL="0" indent="0" lvl="0">
                <a:lnSpc>
                  <a:spcPts val="4500"/>
                </a:lnSpc>
              </a:pPr>
              <a:r>
                <a:rPr lang="en-US" sz="4500" spc="-135">
                  <a:solidFill>
                    <a:srgbClr val="FFFFFF"/>
                  </a:solidFill>
                  <a:latin typeface="DM Sans"/>
                  <a:ea typeface="DM Sans"/>
                  <a:cs typeface="DM Sans"/>
                  <a:sym typeface="DM Sans"/>
                </a:rPr>
                <a:t>Camera Module</a:t>
              </a:r>
            </a:p>
          </p:txBody>
        </p:sp>
        <p:sp>
          <p:nvSpPr>
            <p:cNvPr name="TextBox 19" id="19"/>
            <p:cNvSpPr txBox="true"/>
            <p:nvPr/>
          </p:nvSpPr>
          <p:spPr>
            <a:xfrm rot="0">
              <a:off x="0" y="1185805"/>
              <a:ext cx="8558790" cy="1228725"/>
            </a:xfrm>
            <a:prstGeom prst="rect">
              <a:avLst/>
            </a:prstGeom>
          </p:spPr>
          <p:txBody>
            <a:bodyPr anchor="t" rtlCol="false" tIns="0" lIns="0" bIns="0" rIns="0">
              <a:spAutoFit/>
            </a:bodyPr>
            <a:lstStyle/>
            <a:p>
              <a:pPr algn="l" marL="0" indent="0" lvl="0">
                <a:lnSpc>
                  <a:spcPts val="2400"/>
                </a:lnSpc>
              </a:pPr>
              <a:r>
                <a:rPr lang="en-US" sz="2000" strike="noStrike" u="none">
                  <a:solidFill>
                    <a:srgbClr val="FFFFFF"/>
                  </a:solidFill>
                  <a:latin typeface="DM Sans"/>
                  <a:ea typeface="DM Sans"/>
                  <a:cs typeface="DM Sans"/>
                  <a:sym typeface="DM Sans"/>
                </a:rPr>
                <a:t>Captures real-time video for driver monitoring, enabling drowsiness detection through advanced image processing techniques.</a:t>
              </a:r>
            </a:p>
          </p:txBody>
        </p:sp>
      </p:grpSp>
      <p:sp>
        <p:nvSpPr>
          <p:cNvPr name="TextBox 20" id="20"/>
          <p:cNvSpPr txBox="true"/>
          <p:nvPr/>
        </p:nvSpPr>
        <p:spPr>
          <a:xfrm rot="0">
            <a:off x="571500" y="486553"/>
            <a:ext cx="17145000" cy="2352675"/>
          </a:xfrm>
          <a:prstGeom prst="rect">
            <a:avLst/>
          </a:prstGeom>
        </p:spPr>
        <p:txBody>
          <a:bodyPr anchor="t" rtlCol="false" tIns="0" lIns="0" bIns="0" rIns="0">
            <a:spAutoFit/>
          </a:bodyPr>
          <a:lstStyle/>
          <a:p>
            <a:pPr algn="l" marL="0" indent="0" lvl="0">
              <a:lnSpc>
                <a:spcPts val="9000"/>
              </a:lnSpc>
            </a:pPr>
            <a:r>
              <a:rPr lang="en-US" sz="9000" spc="-270">
                <a:solidFill>
                  <a:srgbClr val="0A3D62"/>
                </a:solidFill>
                <a:latin typeface="DM Sans"/>
                <a:ea typeface="DM Sans"/>
                <a:cs typeface="DM Sans"/>
                <a:sym typeface="DM Sans"/>
              </a:rPr>
              <a:t>Essential Hardware Components for System</a:t>
            </a:r>
          </a:p>
        </p:txBody>
      </p:sp>
      <p:grpSp>
        <p:nvGrpSpPr>
          <p:cNvPr name="Group 21" id="21"/>
          <p:cNvGrpSpPr/>
          <p:nvPr/>
        </p:nvGrpSpPr>
        <p:grpSpPr>
          <a:xfrm rot="0">
            <a:off x="571500" y="2940078"/>
            <a:ext cx="8429625" cy="2142737"/>
            <a:chOff x="0" y="0"/>
            <a:chExt cx="2112884" cy="537076"/>
          </a:xfrm>
        </p:grpSpPr>
        <p:sp>
          <p:nvSpPr>
            <p:cNvPr name="Freeform 22" id="22">
              <a:extLst>
                <a:ext uri="{C183D7F6-B498-43B3-948B-1728B52AA6E4}">
                  <adec:decorative xmlns:adec="http://schemas.microsoft.com/office/drawing/2017/decorative" val="1"/>
                </a:ext>
              </a:extLst>
            </p:cNvPr>
            <p:cNvSpPr/>
            <p:nvPr/>
          </p:nvSpPr>
          <p:spPr>
            <a:xfrm flipH="false" flipV="false" rot="0">
              <a:off x="0" y="0"/>
              <a:ext cx="2112884" cy="537076"/>
            </a:xfrm>
            <a:custGeom>
              <a:avLst/>
              <a:gdLst/>
              <a:ahLst/>
              <a:cxnLst/>
              <a:rect r="r" b="b" t="t" l="l"/>
              <a:pathLst>
                <a:path h="537076" w="2112884">
                  <a:moveTo>
                    <a:pt x="18368" y="0"/>
                  </a:moveTo>
                  <a:lnTo>
                    <a:pt x="2094515" y="0"/>
                  </a:lnTo>
                  <a:cubicBezTo>
                    <a:pt x="2099387" y="0"/>
                    <a:pt x="2104059" y="1935"/>
                    <a:pt x="2107504" y="5380"/>
                  </a:cubicBezTo>
                  <a:cubicBezTo>
                    <a:pt x="2110948" y="8825"/>
                    <a:pt x="2112884" y="13497"/>
                    <a:pt x="2112884" y="18368"/>
                  </a:cubicBezTo>
                  <a:lnTo>
                    <a:pt x="2112884" y="518708"/>
                  </a:lnTo>
                  <a:cubicBezTo>
                    <a:pt x="2112884" y="523580"/>
                    <a:pt x="2110948" y="528252"/>
                    <a:pt x="2107504" y="531697"/>
                  </a:cubicBezTo>
                  <a:cubicBezTo>
                    <a:pt x="2104059" y="535141"/>
                    <a:pt x="2099387" y="537076"/>
                    <a:pt x="2094515" y="537076"/>
                  </a:cubicBezTo>
                  <a:lnTo>
                    <a:pt x="18368" y="537076"/>
                  </a:lnTo>
                  <a:cubicBezTo>
                    <a:pt x="13497" y="537076"/>
                    <a:pt x="8825" y="535141"/>
                    <a:pt x="5380" y="531697"/>
                  </a:cubicBezTo>
                  <a:cubicBezTo>
                    <a:pt x="1935" y="528252"/>
                    <a:pt x="0" y="523580"/>
                    <a:pt x="0" y="518708"/>
                  </a:cubicBezTo>
                  <a:lnTo>
                    <a:pt x="0" y="18368"/>
                  </a:lnTo>
                  <a:cubicBezTo>
                    <a:pt x="0" y="13497"/>
                    <a:pt x="1935" y="8825"/>
                    <a:pt x="5380" y="5380"/>
                  </a:cubicBezTo>
                  <a:cubicBezTo>
                    <a:pt x="8825" y="1935"/>
                    <a:pt x="13497" y="0"/>
                    <a:pt x="18368" y="0"/>
                  </a:cubicBezTo>
                  <a:close/>
                </a:path>
              </a:pathLst>
            </a:custGeom>
            <a:solidFill>
              <a:srgbClr val="0A3D62"/>
            </a:solidFill>
          </p:spPr>
        </p:sp>
        <p:sp>
          <p:nvSpPr>
            <p:cNvPr name="TextBox 23" id="23"/>
            <p:cNvSpPr txBox="true"/>
            <p:nvPr/>
          </p:nvSpPr>
          <p:spPr>
            <a:xfrm>
              <a:off x="0" y="47625"/>
              <a:ext cx="2112884" cy="489451"/>
            </a:xfrm>
            <a:prstGeom prst="rect">
              <a:avLst/>
            </a:prstGeom>
          </p:spPr>
          <p:txBody>
            <a:bodyPr anchor="ctr" rtlCol="false" tIns="50800" lIns="50800" bIns="50800" rIns="50800"/>
            <a:lstStyle/>
            <a:p>
              <a:pPr algn="ctr">
                <a:lnSpc>
                  <a:spcPts val="3000"/>
                </a:lnSpc>
              </a:pPr>
            </a:p>
          </p:txBody>
        </p:sp>
      </p:grpSp>
      <p:grpSp>
        <p:nvGrpSpPr>
          <p:cNvPr name="Group 24" id="24"/>
          <p:cNvGrpSpPr/>
          <p:nvPr/>
        </p:nvGrpSpPr>
        <p:grpSpPr>
          <a:xfrm rot="0">
            <a:off x="1028700" y="3252866"/>
            <a:ext cx="6621719" cy="1506098"/>
            <a:chOff x="0" y="0"/>
            <a:chExt cx="8828958" cy="2008130"/>
          </a:xfrm>
        </p:grpSpPr>
        <p:sp>
          <p:nvSpPr>
            <p:cNvPr name="TextBox 25" id="25"/>
            <p:cNvSpPr txBox="true"/>
            <p:nvPr/>
          </p:nvSpPr>
          <p:spPr>
            <a:xfrm rot="0">
              <a:off x="0" y="76200"/>
              <a:ext cx="8828958" cy="838200"/>
            </a:xfrm>
            <a:prstGeom prst="rect">
              <a:avLst/>
            </a:prstGeom>
          </p:spPr>
          <p:txBody>
            <a:bodyPr anchor="t" rtlCol="false" tIns="0" lIns="0" bIns="0" rIns="0">
              <a:spAutoFit/>
            </a:bodyPr>
            <a:lstStyle/>
            <a:p>
              <a:pPr algn="l" marL="0" indent="0" lvl="0">
                <a:lnSpc>
                  <a:spcPts val="4500"/>
                </a:lnSpc>
              </a:pPr>
              <a:r>
                <a:rPr lang="en-US" sz="4500" spc="-135">
                  <a:solidFill>
                    <a:srgbClr val="FFFFFF"/>
                  </a:solidFill>
                  <a:latin typeface="DM Sans"/>
                  <a:ea typeface="DM Sans"/>
                  <a:cs typeface="DM Sans"/>
                  <a:sym typeface="DM Sans"/>
                </a:rPr>
                <a:t>Arduino UNO</a:t>
              </a:r>
            </a:p>
          </p:txBody>
        </p:sp>
        <p:sp>
          <p:nvSpPr>
            <p:cNvPr name="TextBox 26" id="26"/>
            <p:cNvSpPr txBox="true"/>
            <p:nvPr/>
          </p:nvSpPr>
          <p:spPr>
            <a:xfrm rot="0">
              <a:off x="0" y="1185805"/>
              <a:ext cx="8828958" cy="822325"/>
            </a:xfrm>
            <a:prstGeom prst="rect">
              <a:avLst/>
            </a:prstGeom>
          </p:spPr>
          <p:txBody>
            <a:bodyPr anchor="t" rtlCol="false" tIns="0" lIns="0" bIns="0" rIns="0">
              <a:spAutoFit/>
            </a:bodyPr>
            <a:lstStyle/>
            <a:p>
              <a:pPr algn="l" marL="0" indent="0" lvl="0">
                <a:lnSpc>
                  <a:spcPts val="2400"/>
                </a:lnSpc>
              </a:pPr>
              <a:r>
                <a:rPr lang="en-US" sz="2000" strike="noStrike" u="none">
                  <a:solidFill>
                    <a:srgbClr val="FFFFFF"/>
                  </a:solidFill>
                  <a:latin typeface="DM Sans"/>
                  <a:ea typeface="DM Sans"/>
                  <a:cs typeface="DM Sans"/>
                  <a:sym typeface="DM Sans"/>
                </a:rPr>
                <a:t>A versatile microcontroller used for processing sensor data and executing program logic in real-time.</a:t>
              </a:r>
            </a:p>
          </p:txBody>
        </p:sp>
      </p:grpSp>
      <p:grpSp>
        <p:nvGrpSpPr>
          <p:cNvPr name="Group 27" id="27"/>
          <p:cNvGrpSpPr/>
          <p:nvPr/>
        </p:nvGrpSpPr>
        <p:grpSpPr>
          <a:xfrm rot="0">
            <a:off x="9286875" y="2940078"/>
            <a:ext cx="8429625" cy="2142737"/>
            <a:chOff x="0" y="0"/>
            <a:chExt cx="2112884" cy="537076"/>
          </a:xfrm>
        </p:grpSpPr>
        <p:sp>
          <p:nvSpPr>
            <p:cNvPr name="Freeform 28" id="28">
              <a:extLst>
                <a:ext uri="{C183D7F6-B498-43B3-948B-1728B52AA6E4}">
                  <adec:decorative xmlns:adec="http://schemas.microsoft.com/office/drawing/2017/decorative" val="1"/>
                </a:ext>
              </a:extLst>
            </p:cNvPr>
            <p:cNvSpPr/>
            <p:nvPr/>
          </p:nvSpPr>
          <p:spPr>
            <a:xfrm flipH="false" flipV="false" rot="0">
              <a:off x="0" y="0"/>
              <a:ext cx="2112884" cy="537076"/>
            </a:xfrm>
            <a:custGeom>
              <a:avLst/>
              <a:gdLst/>
              <a:ahLst/>
              <a:cxnLst/>
              <a:rect r="r" b="b" t="t" l="l"/>
              <a:pathLst>
                <a:path h="537076" w="2112884">
                  <a:moveTo>
                    <a:pt x="18368" y="0"/>
                  </a:moveTo>
                  <a:lnTo>
                    <a:pt x="2094515" y="0"/>
                  </a:lnTo>
                  <a:cubicBezTo>
                    <a:pt x="2099387" y="0"/>
                    <a:pt x="2104059" y="1935"/>
                    <a:pt x="2107504" y="5380"/>
                  </a:cubicBezTo>
                  <a:cubicBezTo>
                    <a:pt x="2110948" y="8825"/>
                    <a:pt x="2112884" y="13497"/>
                    <a:pt x="2112884" y="18368"/>
                  </a:cubicBezTo>
                  <a:lnTo>
                    <a:pt x="2112884" y="518708"/>
                  </a:lnTo>
                  <a:cubicBezTo>
                    <a:pt x="2112884" y="523580"/>
                    <a:pt x="2110948" y="528252"/>
                    <a:pt x="2107504" y="531697"/>
                  </a:cubicBezTo>
                  <a:cubicBezTo>
                    <a:pt x="2104059" y="535141"/>
                    <a:pt x="2099387" y="537076"/>
                    <a:pt x="2094515" y="537076"/>
                  </a:cubicBezTo>
                  <a:lnTo>
                    <a:pt x="18368" y="537076"/>
                  </a:lnTo>
                  <a:cubicBezTo>
                    <a:pt x="13497" y="537076"/>
                    <a:pt x="8825" y="535141"/>
                    <a:pt x="5380" y="531697"/>
                  </a:cubicBezTo>
                  <a:cubicBezTo>
                    <a:pt x="1935" y="528252"/>
                    <a:pt x="0" y="523580"/>
                    <a:pt x="0" y="518708"/>
                  </a:cubicBezTo>
                  <a:lnTo>
                    <a:pt x="0" y="18368"/>
                  </a:lnTo>
                  <a:cubicBezTo>
                    <a:pt x="0" y="13497"/>
                    <a:pt x="1935" y="8825"/>
                    <a:pt x="5380" y="5380"/>
                  </a:cubicBezTo>
                  <a:cubicBezTo>
                    <a:pt x="8825" y="1935"/>
                    <a:pt x="13497" y="0"/>
                    <a:pt x="18368" y="0"/>
                  </a:cubicBezTo>
                  <a:close/>
                </a:path>
              </a:pathLst>
            </a:custGeom>
            <a:solidFill>
              <a:srgbClr val="0A3D62"/>
            </a:solidFill>
          </p:spPr>
        </p:sp>
        <p:sp>
          <p:nvSpPr>
            <p:cNvPr name="TextBox 29" id="29"/>
            <p:cNvSpPr txBox="true"/>
            <p:nvPr/>
          </p:nvSpPr>
          <p:spPr>
            <a:xfrm>
              <a:off x="0" y="47625"/>
              <a:ext cx="2112884" cy="489451"/>
            </a:xfrm>
            <a:prstGeom prst="rect">
              <a:avLst/>
            </a:prstGeom>
          </p:spPr>
          <p:txBody>
            <a:bodyPr anchor="ctr" rtlCol="false" tIns="50800" lIns="50800" bIns="50800" rIns="50800"/>
            <a:lstStyle/>
            <a:p>
              <a:pPr algn="ctr">
                <a:lnSpc>
                  <a:spcPts val="3000"/>
                </a:lnSpc>
              </a:pPr>
            </a:p>
          </p:txBody>
        </p:sp>
      </p:grpSp>
      <p:grpSp>
        <p:nvGrpSpPr>
          <p:cNvPr name="Group 30" id="30"/>
          <p:cNvGrpSpPr/>
          <p:nvPr/>
        </p:nvGrpSpPr>
        <p:grpSpPr>
          <a:xfrm rot="0">
            <a:off x="9602587" y="3258397"/>
            <a:ext cx="6419092" cy="1506098"/>
            <a:chOff x="0" y="0"/>
            <a:chExt cx="8558790" cy="2008130"/>
          </a:xfrm>
        </p:grpSpPr>
        <p:sp>
          <p:nvSpPr>
            <p:cNvPr name="TextBox 31" id="31"/>
            <p:cNvSpPr txBox="true"/>
            <p:nvPr/>
          </p:nvSpPr>
          <p:spPr>
            <a:xfrm rot="0">
              <a:off x="0" y="76200"/>
              <a:ext cx="8558790" cy="838200"/>
            </a:xfrm>
            <a:prstGeom prst="rect">
              <a:avLst/>
            </a:prstGeom>
          </p:spPr>
          <p:txBody>
            <a:bodyPr anchor="t" rtlCol="false" tIns="0" lIns="0" bIns="0" rIns="0">
              <a:spAutoFit/>
            </a:bodyPr>
            <a:lstStyle/>
            <a:p>
              <a:pPr algn="l" marL="0" indent="0" lvl="0">
                <a:lnSpc>
                  <a:spcPts val="4500"/>
                </a:lnSpc>
              </a:pPr>
              <a:r>
                <a:rPr lang="en-US" sz="4500" spc="-135">
                  <a:solidFill>
                    <a:srgbClr val="FFFFFF"/>
                  </a:solidFill>
                  <a:latin typeface="DM Sans"/>
                  <a:ea typeface="DM Sans"/>
                  <a:cs typeface="DM Sans"/>
                  <a:sym typeface="DM Sans"/>
                </a:rPr>
                <a:t>MEMS Accelerometer</a:t>
              </a:r>
            </a:p>
          </p:txBody>
        </p:sp>
        <p:sp>
          <p:nvSpPr>
            <p:cNvPr name="TextBox 32" id="32"/>
            <p:cNvSpPr txBox="true"/>
            <p:nvPr/>
          </p:nvSpPr>
          <p:spPr>
            <a:xfrm rot="0">
              <a:off x="0" y="1185805"/>
              <a:ext cx="8558790" cy="822325"/>
            </a:xfrm>
            <a:prstGeom prst="rect">
              <a:avLst/>
            </a:prstGeom>
          </p:spPr>
          <p:txBody>
            <a:bodyPr anchor="t" rtlCol="false" tIns="0" lIns="0" bIns="0" rIns="0">
              <a:spAutoFit/>
            </a:bodyPr>
            <a:lstStyle/>
            <a:p>
              <a:pPr algn="l" marL="0" indent="0" lvl="0">
                <a:lnSpc>
                  <a:spcPts val="2400"/>
                </a:lnSpc>
              </a:pPr>
              <a:r>
                <a:rPr lang="en-US" sz="2000" strike="noStrike" u="none">
                  <a:solidFill>
                    <a:srgbClr val="FFFFFF"/>
                  </a:solidFill>
                  <a:latin typeface="DM Sans"/>
                  <a:ea typeface="DM Sans"/>
                  <a:cs typeface="DM Sans"/>
                  <a:sym typeface="DM Sans"/>
                </a:rPr>
                <a:t>Measures vehicle acceleration and detects sudden movements, crucial for identifying potential accidents.</a:t>
              </a:r>
            </a:p>
          </p:txBody>
        </p:sp>
      </p:grpSp>
      <p:grpSp>
        <p:nvGrpSpPr>
          <p:cNvPr name="Group 33" id="33"/>
          <p:cNvGrpSpPr/>
          <p:nvPr/>
        </p:nvGrpSpPr>
        <p:grpSpPr>
          <a:xfrm rot="0">
            <a:off x="1028700" y="8033746"/>
            <a:ext cx="6621719" cy="1510461"/>
            <a:chOff x="0" y="0"/>
            <a:chExt cx="8828958" cy="2013948"/>
          </a:xfrm>
        </p:grpSpPr>
        <p:sp>
          <p:nvSpPr>
            <p:cNvPr name="TextBox 34" id="34"/>
            <p:cNvSpPr txBox="true"/>
            <p:nvPr/>
          </p:nvSpPr>
          <p:spPr>
            <a:xfrm rot="0">
              <a:off x="0" y="76200"/>
              <a:ext cx="8828958" cy="838200"/>
            </a:xfrm>
            <a:prstGeom prst="rect">
              <a:avLst/>
            </a:prstGeom>
          </p:spPr>
          <p:txBody>
            <a:bodyPr anchor="t" rtlCol="false" tIns="0" lIns="0" bIns="0" rIns="0">
              <a:spAutoFit/>
            </a:bodyPr>
            <a:lstStyle/>
            <a:p>
              <a:pPr algn="l" marL="0" indent="0" lvl="0">
                <a:lnSpc>
                  <a:spcPts val="4500"/>
                </a:lnSpc>
              </a:pPr>
              <a:r>
                <a:rPr lang="en-US" sz="4500" spc="-135">
                  <a:solidFill>
                    <a:srgbClr val="FFFFFF"/>
                  </a:solidFill>
                  <a:latin typeface="DM Sans"/>
                  <a:ea typeface="DM Sans"/>
                  <a:cs typeface="DM Sans"/>
                  <a:sym typeface="DM Sans"/>
                </a:rPr>
                <a:t>LCD Display</a:t>
              </a:r>
            </a:p>
          </p:txBody>
        </p:sp>
        <p:sp>
          <p:nvSpPr>
            <p:cNvPr name="TextBox 35" id="35"/>
            <p:cNvSpPr txBox="true"/>
            <p:nvPr/>
          </p:nvSpPr>
          <p:spPr>
            <a:xfrm rot="0">
              <a:off x="0" y="1191623"/>
              <a:ext cx="8828958" cy="822325"/>
            </a:xfrm>
            <a:prstGeom prst="rect">
              <a:avLst/>
            </a:prstGeom>
          </p:spPr>
          <p:txBody>
            <a:bodyPr anchor="t" rtlCol="false" tIns="0" lIns="0" bIns="0" rIns="0">
              <a:spAutoFit/>
            </a:bodyPr>
            <a:lstStyle/>
            <a:p>
              <a:pPr algn="l" marL="0" indent="0" lvl="0">
                <a:lnSpc>
                  <a:spcPts val="2400"/>
                </a:lnSpc>
              </a:pPr>
              <a:r>
                <a:rPr lang="en-US" sz="2000" strike="noStrike" u="none">
                  <a:solidFill>
                    <a:srgbClr val="FFFFFF"/>
                  </a:solidFill>
                  <a:latin typeface="DM Sans"/>
                  <a:ea typeface="DM Sans"/>
                  <a:cs typeface="DM Sans"/>
                  <a:sym typeface="DM Sans"/>
                </a:rPr>
                <a:t>Displays real-time system status and accident information.</a:t>
              </a:r>
            </a:p>
          </p:txBody>
        </p:sp>
      </p:grpSp>
      <p:grpSp>
        <p:nvGrpSpPr>
          <p:cNvPr name="Group 36" id="36"/>
          <p:cNvGrpSpPr/>
          <p:nvPr/>
        </p:nvGrpSpPr>
        <p:grpSpPr>
          <a:xfrm rot="0">
            <a:off x="9602587" y="7978026"/>
            <a:ext cx="6621719" cy="1506098"/>
            <a:chOff x="0" y="0"/>
            <a:chExt cx="8828958" cy="2008130"/>
          </a:xfrm>
        </p:grpSpPr>
        <p:sp>
          <p:nvSpPr>
            <p:cNvPr name="TextBox 37" id="37"/>
            <p:cNvSpPr txBox="true"/>
            <p:nvPr/>
          </p:nvSpPr>
          <p:spPr>
            <a:xfrm rot="0">
              <a:off x="0" y="76200"/>
              <a:ext cx="8828958" cy="838200"/>
            </a:xfrm>
            <a:prstGeom prst="rect">
              <a:avLst/>
            </a:prstGeom>
          </p:spPr>
          <p:txBody>
            <a:bodyPr anchor="t" rtlCol="false" tIns="0" lIns="0" bIns="0" rIns="0">
              <a:spAutoFit/>
            </a:bodyPr>
            <a:lstStyle/>
            <a:p>
              <a:pPr algn="l" marL="0" indent="0" lvl="0">
                <a:lnSpc>
                  <a:spcPts val="4500"/>
                </a:lnSpc>
              </a:pPr>
              <a:r>
                <a:rPr lang="en-US" sz="4500" spc="-135">
                  <a:solidFill>
                    <a:srgbClr val="FFFFFF"/>
                  </a:solidFill>
                  <a:latin typeface="DM Sans"/>
                  <a:ea typeface="DM Sans"/>
                  <a:cs typeface="DM Sans"/>
                  <a:sym typeface="DM Sans"/>
                </a:rPr>
                <a:t>Buzzer</a:t>
              </a:r>
            </a:p>
          </p:txBody>
        </p:sp>
        <p:sp>
          <p:nvSpPr>
            <p:cNvPr name="TextBox 38" id="38"/>
            <p:cNvSpPr txBox="true"/>
            <p:nvPr/>
          </p:nvSpPr>
          <p:spPr>
            <a:xfrm rot="0">
              <a:off x="0" y="1185805"/>
              <a:ext cx="8828958" cy="822325"/>
            </a:xfrm>
            <a:prstGeom prst="rect">
              <a:avLst/>
            </a:prstGeom>
          </p:spPr>
          <p:txBody>
            <a:bodyPr anchor="t" rtlCol="false" tIns="0" lIns="0" bIns="0" rIns="0">
              <a:spAutoFit/>
            </a:bodyPr>
            <a:lstStyle/>
            <a:p>
              <a:pPr algn="l" marL="0" indent="0" lvl="0">
                <a:lnSpc>
                  <a:spcPts val="2400"/>
                </a:lnSpc>
              </a:pPr>
              <a:r>
                <a:rPr lang="en-US" sz="2000">
                  <a:solidFill>
                    <a:srgbClr val="FFFFFF"/>
                  </a:solidFill>
                  <a:latin typeface="DM Sans"/>
                  <a:ea typeface="DM Sans"/>
                  <a:cs typeface="DM Sans"/>
                  <a:sym typeface="DM Sans"/>
                </a:rPr>
                <a:t>G</a:t>
              </a:r>
              <a:r>
                <a:rPr lang="en-US" sz="2000" strike="noStrike" u="none">
                  <a:solidFill>
                    <a:srgbClr val="FFFFFF"/>
                  </a:solidFill>
                  <a:latin typeface="DM Sans"/>
                  <a:ea typeface="DM Sans"/>
                  <a:cs typeface="DM Sans"/>
                  <a:sym typeface="DM Sans"/>
                </a:rPr>
                <a:t>enerates an immediate audible alert during accidents or emergencies, ensuring quick attention and response.</a:t>
              </a:r>
            </a:p>
          </p:txBody>
        </p:sp>
      </p:grpSp>
    </p:spTree>
  </p:cSld>
  <p:clrMapOvr>
    <a:masterClrMapping/>
  </p:clrMapOvr>
</p:sld>
</file>

<file path=ppt/slides/slide11.xml><?xml version="1.0" encoding="utf-8"?>
<p:sld xmlns:p="http://schemas.openxmlformats.org/presentationml/2006/main" xmlns:a="http://schemas.openxmlformats.org/drawingml/2006/main">
  <p:cSld>
    <p:bg>
      <p:bgPr>
        <a:solidFill>
          <a:srgbClr val="0A3D62"/>
        </a:solidFill>
      </p:bgPr>
    </p:bg>
    <p:spTree>
      <p:nvGrpSpPr>
        <p:cNvPr id="1" name=""/>
        <p:cNvGrpSpPr/>
        <p:nvPr/>
      </p:nvGrpSpPr>
      <p:grpSpPr>
        <a:xfrm>
          <a:off x="0" y="0"/>
          <a:ext cx="0" cy="0"/>
          <a:chOff x="0" y="0"/>
          <a:chExt cx="0" cy="0"/>
        </a:xfrm>
      </p:grpSpPr>
      <p:grpSp>
        <p:nvGrpSpPr>
          <p:cNvPr name="Group 2" id="2"/>
          <p:cNvGrpSpPr/>
          <p:nvPr/>
        </p:nvGrpSpPr>
        <p:grpSpPr>
          <a:xfrm rot="0">
            <a:off x="571500" y="7277067"/>
            <a:ext cx="8429625" cy="2438433"/>
            <a:chOff x="0" y="0"/>
            <a:chExt cx="2112884" cy="611193"/>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2112884" cy="611193"/>
            </a:xfrm>
            <a:custGeom>
              <a:avLst/>
              <a:gdLst/>
              <a:ahLst/>
              <a:cxnLst/>
              <a:rect r="r" b="b" t="t" l="l"/>
              <a:pathLst>
                <a:path h="611193" w="2112884">
                  <a:moveTo>
                    <a:pt x="18368" y="0"/>
                  </a:moveTo>
                  <a:lnTo>
                    <a:pt x="2094515" y="0"/>
                  </a:lnTo>
                  <a:cubicBezTo>
                    <a:pt x="2099387" y="0"/>
                    <a:pt x="2104059" y="1935"/>
                    <a:pt x="2107504" y="5380"/>
                  </a:cubicBezTo>
                  <a:cubicBezTo>
                    <a:pt x="2110948" y="8825"/>
                    <a:pt x="2112884" y="13497"/>
                    <a:pt x="2112884" y="18368"/>
                  </a:cubicBezTo>
                  <a:lnTo>
                    <a:pt x="2112884" y="592824"/>
                  </a:lnTo>
                  <a:cubicBezTo>
                    <a:pt x="2112884" y="597696"/>
                    <a:pt x="2110948" y="602368"/>
                    <a:pt x="2107504" y="605813"/>
                  </a:cubicBezTo>
                  <a:cubicBezTo>
                    <a:pt x="2104059" y="609257"/>
                    <a:pt x="2099387" y="611193"/>
                    <a:pt x="2094515" y="611193"/>
                  </a:cubicBezTo>
                  <a:lnTo>
                    <a:pt x="18368" y="611193"/>
                  </a:lnTo>
                  <a:cubicBezTo>
                    <a:pt x="13497" y="611193"/>
                    <a:pt x="8825" y="609257"/>
                    <a:pt x="5380" y="605813"/>
                  </a:cubicBezTo>
                  <a:cubicBezTo>
                    <a:pt x="1935" y="602368"/>
                    <a:pt x="0" y="597696"/>
                    <a:pt x="0" y="592824"/>
                  </a:cubicBezTo>
                  <a:lnTo>
                    <a:pt x="0" y="18368"/>
                  </a:lnTo>
                  <a:cubicBezTo>
                    <a:pt x="0" y="13497"/>
                    <a:pt x="1935" y="8825"/>
                    <a:pt x="5380" y="5380"/>
                  </a:cubicBezTo>
                  <a:cubicBezTo>
                    <a:pt x="8825" y="1935"/>
                    <a:pt x="13497" y="0"/>
                    <a:pt x="18368" y="0"/>
                  </a:cubicBezTo>
                  <a:close/>
                </a:path>
              </a:pathLst>
            </a:custGeom>
            <a:solidFill>
              <a:srgbClr val="FFFFFF"/>
            </a:solidFill>
          </p:spPr>
        </p:sp>
        <p:sp>
          <p:nvSpPr>
            <p:cNvPr name="TextBox 4" id="4"/>
            <p:cNvSpPr txBox="true"/>
            <p:nvPr/>
          </p:nvSpPr>
          <p:spPr>
            <a:xfrm>
              <a:off x="0" y="47625"/>
              <a:ext cx="2112884" cy="563568"/>
            </a:xfrm>
            <a:prstGeom prst="rect">
              <a:avLst/>
            </a:prstGeom>
          </p:spPr>
          <p:txBody>
            <a:bodyPr anchor="ctr" rtlCol="false" tIns="50800" lIns="50800" bIns="50800" rIns="50800"/>
            <a:lstStyle/>
            <a:p>
              <a:pPr algn="ctr">
                <a:lnSpc>
                  <a:spcPts val="3000"/>
                </a:lnSpc>
              </a:pPr>
            </a:p>
          </p:txBody>
        </p:sp>
      </p:grpSp>
      <p:grpSp>
        <p:nvGrpSpPr>
          <p:cNvPr name="Group 5" id="5"/>
          <p:cNvGrpSpPr/>
          <p:nvPr/>
        </p:nvGrpSpPr>
        <p:grpSpPr>
          <a:xfrm rot="0">
            <a:off x="571500" y="4556646"/>
            <a:ext cx="8429625" cy="2438433"/>
            <a:chOff x="0" y="0"/>
            <a:chExt cx="2112884" cy="611193"/>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2112884" cy="611193"/>
            </a:xfrm>
            <a:custGeom>
              <a:avLst/>
              <a:gdLst/>
              <a:ahLst/>
              <a:cxnLst/>
              <a:rect r="r" b="b" t="t" l="l"/>
              <a:pathLst>
                <a:path h="611193" w="2112884">
                  <a:moveTo>
                    <a:pt x="18368" y="0"/>
                  </a:moveTo>
                  <a:lnTo>
                    <a:pt x="2094515" y="0"/>
                  </a:lnTo>
                  <a:cubicBezTo>
                    <a:pt x="2099387" y="0"/>
                    <a:pt x="2104059" y="1935"/>
                    <a:pt x="2107504" y="5380"/>
                  </a:cubicBezTo>
                  <a:cubicBezTo>
                    <a:pt x="2110948" y="8825"/>
                    <a:pt x="2112884" y="13497"/>
                    <a:pt x="2112884" y="18368"/>
                  </a:cubicBezTo>
                  <a:lnTo>
                    <a:pt x="2112884" y="592824"/>
                  </a:lnTo>
                  <a:cubicBezTo>
                    <a:pt x="2112884" y="597696"/>
                    <a:pt x="2110948" y="602368"/>
                    <a:pt x="2107504" y="605813"/>
                  </a:cubicBezTo>
                  <a:cubicBezTo>
                    <a:pt x="2104059" y="609257"/>
                    <a:pt x="2099387" y="611193"/>
                    <a:pt x="2094515" y="611193"/>
                  </a:cubicBezTo>
                  <a:lnTo>
                    <a:pt x="18368" y="611193"/>
                  </a:lnTo>
                  <a:cubicBezTo>
                    <a:pt x="13497" y="611193"/>
                    <a:pt x="8825" y="609257"/>
                    <a:pt x="5380" y="605813"/>
                  </a:cubicBezTo>
                  <a:cubicBezTo>
                    <a:pt x="1935" y="602368"/>
                    <a:pt x="0" y="597696"/>
                    <a:pt x="0" y="592824"/>
                  </a:cubicBezTo>
                  <a:lnTo>
                    <a:pt x="0" y="18368"/>
                  </a:lnTo>
                  <a:cubicBezTo>
                    <a:pt x="0" y="13497"/>
                    <a:pt x="1935" y="8825"/>
                    <a:pt x="5380" y="5380"/>
                  </a:cubicBezTo>
                  <a:cubicBezTo>
                    <a:pt x="8825" y="1935"/>
                    <a:pt x="13497" y="0"/>
                    <a:pt x="18368" y="0"/>
                  </a:cubicBezTo>
                  <a:close/>
                </a:path>
              </a:pathLst>
            </a:custGeom>
            <a:solidFill>
              <a:srgbClr val="FFFFFF"/>
            </a:solidFill>
          </p:spPr>
        </p:sp>
        <p:sp>
          <p:nvSpPr>
            <p:cNvPr name="TextBox 7" id="7"/>
            <p:cNvSpPr txBox="true"/>
            <p:nvPr/>
          </p:nvSpPr>
          <p:spPr>
            <a:xfrm>
              <a:off x="0" y="47625"/>
              <a:ext cx="2112884" cy="563568"/>
            </a:xfrm>
            <a:prstGeom prst="rect">
              <a:avLst/>
            </a:prstGeom>
          </p:spPr>
          <p:txBody>
            <a:bodyPr anchor="ctr" rtlCol="false" tIns="50800" lIns="50800" bIns="50800" rIns="50800"/>
            <a:lstStyle/>
            <a:p>
              <a:pPr algn="ctr">
                <a:lnSpc>
                  <a:spcPts val="3000"/>
                </a:lnSpc>
              </a:pPr>
            </a:p>
          </p:txBody>
        </p:sp>
      </p:grpSp>
      <p:grpSp>
        <p:nvGrpSpPr>
          <p:cNvPr name="Group 8" id="8"/>
          <p:cNvGrpSpPr/>
          <p:nvPr/>
        </p:nvGrpSpPr>
        <p:grpSpPr>
          <a:xfrm rot="0">
            <a:off x="931606" y="4852343"/>
            <a:ext cx="6621719" cy="1810898"/>
            <a:chOff x="0" y="0"/>
            <a:chExt cx="8828958" cy="2414530"/>
          </a:xfrm>
        </p:grpSpPr>
        <p:sp>
          <p:nvSpPr>
            <p:cNvPr name="TextBox 9" id="9"/>
            <p:cNvSpPr txBox="true"/>
            <p:nvPr/>
          </p:nvSpPr>
          <p:spPr>
            <a:xfrm rot="0">
              <a:off x="0" y="76200"/>
              <a:ext cx="8828958" cy="838200"/>
            </a:xfrm>
            <a:prstGeom prst="rect">
              <a:avLst/>
            </a:prstGeom>
          </p:spPr>
          <p:txBody>
            <a:bodyPr anchor="t" rtlCol="false" tIns="0" lIns="0" bIns="0" rIns="0">
              <a:spAutoFit/>
            </a:bodyPr>
            <a:lstStyle/>
            <a:p>
              <a:pPr algn="l" marL="0" indent="0" lvl="0">
                <a:lnSpc>
                  <a:spcPts val="4500"/>
                </a:lnSpc>
              </a:pPr>
              <a:r>
                <a:rPr lang="en-US" sz="4500" spc="-135">
                  <a:solidFill>
                    <a:srgbClr val="0A3D62"/>
                  </a:solidFill>
                  <a:latin typeface="DM Sans"/>
                  <a:ea typeface="DM Sans"/>
                  <a:cs typeface="DM Sans"/>
                  <a:sym typeface="DM Sans"/>
                </a:rPr>
                <a:t>Arduino IDE</a:t>
              </a:r>
            </a:p>
          </p:txBody>
        </p:sp>
        <p:sp>
          <p:nvSpPr>
            <p:cNvPr name="TextBox 10" id="10"/>
            <p:cNvSpPr txBox="true"/>
            <p:nvPr/>
          </p:nvSpPr>
          <p:spPr>
            <a:xfrm rot="0">
              <a:off x="0" y="1185805"/>
              <a:ext cx="8828958" cy="1228725"/>
            </a:xfrm>
            <a:prstGeom prst="rect">
              <a:avLst/>
            </a:prstGeom>
          </p:spPr>
          <p:txBody>
            <a:bodyPr anchor="t" rtlCol="false" tIns="0" lIns="0" bIns="0" rIns="0">
              <a:spAutoFit/>
            </a:bodyPr>
            <a:lstStyle/>
            <a:p>
              <a:pPr algn="l" marL="0" indent="0" lvl="0">
                <a:lnSpc>
                  <a:spcPts val="2400"/>
                </a:lnSpc>
              </a:pPr>
              <a:r>
                <a:rPr lang="en-US" sz="2000" strike="noStrike" u="none">
                  <a:solidFill>
                    <a:srgbClr val="0A3D62"/>
                  </a:solidFill>
                  <a:latin typeface="DM Sans"/>
                  <a:ea typeface="DM Sans"/>
                  <a:cs typeface="DM Sans"/>
                  <a:sym typeface="DM Sans"/>
                </a:rPr>
                <a:t>The primary tool for programming the Arduino microcontroller, facilitating efficient development and debugging of the code.</a:t>
              </a:r>
            </a:p>
          </p:txBody>
        </p:sp>
      </p:grpSp>
      <p:grpSp>
        <p:nvGrpSpPr>
          <p:cNvPr name="Group 11" id="11"/>
          <p:cNvGrpSpPr/>
          <p:nvPr/>
        </p:nvGrpSpPr>
        <p:grpSpPr>
          <a:xfrm rot="0">
            <a:off x="931606" y="7410433"/>
            <a:ext cx="6621719" cy="2171700"/>
            <a:chOff x="0" y="0"/>
            <a:chExt cx="8828958" cy="2895600"/>
          </a:xfrm>
        </p:grpSpPr>
        <p:sp>
          <p:nvSpPr>
            <p:cNvPr name="TextBox 12" id="12"/>
            <p:cNvSpPr txBox="true"/>
            <p:nvPr/>
          </p:nvSpPr>
          <p:spPr>
            <a:xfrm rot="0">
              <a:off x="0" y="76200"/>
              <a:ext cx="8828958" cy="1600200"/>
            </a:xfrm>
            <a:prstGeom prst="rect">
              <a:avLst/>
            </a:prstGeom>
          </p:spPr>
          <p:txBody>
            <a:bodyPr anchor="t" rtlCol="false" tIns="0" lIns="0" bIns="0" rIns="0">
              <a:spAutoFit/>
            </a:bodyPr>
            <a:lstStyle/>
            <a:p>
              <a:pPr algn="l" marL="0" indent="0" lvl="0">
                <a:lnSpc>
                  <a:spcPts val="4500"/>
                </a:lnSpc>
              </a:pPr>
              <a:r>
                <a:rPr lang="en-US" sz="4500" spc="-135">
                  <a:solidFill>
                    <a:srgbClr val="0A3D62"/>
                  </a:solidFill>
                  <a:latin typeface="DM Sans"/>
                  <a:ea typeface="DM Sans"/>
                  <a:cs typeface="DM Sans"/>
                  <a:sym typeface="DM Sans"/>
                </a:rPr>
                <a:t>Computer Vision &amp; AI Libraries</a:t>
              </a:r>
            </a:p>
          </p:txBody>
        </p:sp>
        <p:sp>
          <p:nvSpPr>
            <p:cNvPr name="TextBox 13" id="13"/>
            <p:cNvSpPr txBox="true"/>
            <p:nvPr/>
          </p:nvSpPr>
          <p:spPr>
            <a:xfrm rot="0">
              <a:off x="0" y="1666875"/>
              <a:ext cx="8828958" cy="1228725"/>
            </a:xfrm>
            <a:prstGeom prst="rect">
              <a:avLst/>
            </a:prstGeom>
          </p:spPr>
          <p:txBody>
            <a:bodyPr anchor="t" rtlCol="false" tIns="0" lIns="0" bIns="0" rIns="0">
              <a:spAutoFit/>
            </a:bodyPr>
            <a:lstStyle/>
            <a:p>
              <a:pPr algn="l" marL="0" indent="0" lvl="0">
                <a:lnSpc>
                  <a:spcPts val="2400"/>
                </a:lnSpc>
              </a:pPr>
              <a:r>
                <a:rPr lang="en-US" sz="2000" strike="noStrike" u="none">
                  <a:solidFill>
                    <a:srgbClr val="0A3D62"/>
                  </a:solidFill>
                  <a:latin typeface="DM Sans"/>
                  <a:ea typeface="DM Sans"/>
                  <a:cs typeface="DM Sans"/>
                  <a:sym typeface="DM Sans"/>
                </a:rPr>
                <a:t>Algorithms enabling real-time face and eye detection to assess driver drowsiness and enhance monitoring accuracy.</a:t>
              </a:r>
            </a:p>
          </p:txBody>
        </p:sp>
      </p:grpSp>
      <p:grpSp>
        <p:nvGrpSpPr>
          <p:cNvPr name="Group 14" id="14"/>
          <p:cNvGrpSpPr/>
          <p:nvPr/>
        </p:nvGrpSpPr>
        <p:grpSpPr>
          <a:xfrm rot="0">
            <a:off x="9286875" y="7277067"/>
            <a:ext cx="8429625" cy="2438433"/>
            <a:chOff x="0" y="0"/>
            <a:chExt cx="2112884" cy="611193"/>
          </a:xfrm>
        </p:grpSpPr>
        <p:sp>
          <p:nvSpPr>
            <p:cNvPr name="Freeform 15" id="15">
              <a:extLst>
                <a:ext uri="{C183D7F6-B498-43B3-948B-1728B52AA6E4}">
                  <adec:decorative xmlns:adec="http://schemas.microsoft.com/office/drawing/2017/decorative" val="1"/>
                </a:ext>
              </a:extLst>
            </p:cNvPr>
            <p:cNvSpPr/>
            <p:nvPr/>
          </p:nvSpPr>
          <p:spPr>
            <a:xfrm flipH="false" flipV="false" rot="0">
              <a:off x="0" y="0"/>
              <a:ext cx="2112884" cy="611193"/>
            </a:xfrm>
            <a:custGeom>
              <a:avLst/>
              <a:gdLst/>
              <a:ahLst/>
              <a:cxnLst/>
              <a:rect r="r" b="b" t="t" l="l"/>
              <a:pathLst>
                <a:path h="611193" w="2112884">
                  <a:moveTo>
                    <a:pt x="18368" y="0"/>
                  </a:moveTo>
                  <a:lnTo>
                    <a:pt x="2094515" y="0"/>
                  </a:lnTo>
                  <a:cubicBezTo>
                    <a:pt x="2099387" y="0"/>
                    <a:pt x="2104059" y="1935"/>
                    <a:pt x="2107504" y="5380"/>
                  </a:cubicBezTo>
                  <a:cubicBezTo>
                    <a:pt x="2110948" y="8825"/>
                    <a:pt x="2112884" y="13497"/>
                    <a:pt x="2112884" y="18368"/>
                  </a:cubicBezTo>
                  <a:lnTo>
                    <a:pt x="2112884" y="592824"/>
                  </a:lnTo>
                  <a:cubicBezTo>
                    <a:pt x="2112884" y="597696"/>
                    <a:pt x="2110948" y="602368"/>
                    <a:pt x="2107504" y="605813"/>
                  </a:cubicBezTo>
                  <a:cubicBezTo>
                    <a:pt x="2104059" y="609257"/>
                    <a:pt x="2099387" y="611193"/>
                    <a:pt x="2094515" y="611193"/>
                  </a:cubicBezTo>
                  <a:lnTo>
                    <a:pt x="18368" y="611193"/>
                  </a:lnTo>
                  <a:cubicBezTo>
                    <a:pt x="13497" y="611193"/>
                    <a:pt x="8825" y="609257"/>
                    <a:pt x="5380" y="605813"/>
                  </a:cubicBezTo>
                  <a:cubicBezTo>
                    <a:pt x="1935" y="602368"/>
                    <a:pt x="0" y="597696"/>
                    <a:pt x="0" y="592824"/>
                  </a:cubicBezTo>
                  <a:lnTo>
                    <a:pt x="0" y="18368"/>
                  </a:lnTo>
                  <a:cubicBezTo>
                    <a:pt x="0" y="13497"/>
                    <a:pt x="1935" y="8825"/>
                    <a:pt x="5380" y="5380"/>
                  </a:cubicBezTo>
                  <a:cubicBezTo>
                    <a:pt x="8825" y="1935"/>
                    <a:pt x="13497" y="0"/>
                    <a:pt x="18368" y="0"/>
                  </a:cubicBezTo>
                  <a:close/>
                </a:path>
              </a:pathLst>
            </a:custGeom>
            <a:solidFill>
              <a:srgbClr val="FFFFFF"/>
            </a:solidFill>
          </p:spPr>
        </p:sp>
        <p:sp>
          <p:nvSpPr>
            <p:cNvPr name="TextBox 16" id="16"/>
            <p:cNvSpPr txBox="true"/>
            <p:nvPr/>
          </p:nvSpPr>
          <p:spPr>
            <a:xfrm>
              <a:off x="0" y="47625"/>
              <a:ext cx="2112884" cy="563568"/>
            </a:xfrm>
            <a:prstGeom prst="rect">
              <a:avLst/>
            </a:prstGeom>
          </p:spPr>
          <p:txBody>
            <a:bodyPr anchor="ctr" rtlCol="false" tIns="50800" lIns="50800" bIns="50800" rIns="50800"/>
            <a:lstStyle/>
            <a:p>
              <a:pPr algn="ctr">
                <a:lnSpc>
                  <a:spcPts val="3000"/>
                </a:lnSpc>
              </a:pPr>
            </a:p>
          </p:txBody>
        </p:sp>
      </p:grpSp>
      <p:grpSp>
        <p:nvGrpSpPr>
          <p:cNvPr name="Group 17" id="17"/>
          <p:cNvGrpSpPr/>
          <p:nvPr/>
        </p:nvGrpSpPr>
        <p:grpSpPr>
          <a:xfrm rot="0">
            <a:off x="9286875" y="4556646"/>
            <a:ext cx="8429625" cy="2438433"/>
            <a:chOff x="0" y="0"/>
            <a:chExt cx="2112884" cy="611193"/>
          </a:xfrm>
        </p:grpSpPr>
        <p:sp>
          <p:nvSpPr>
            <p:cNvPr name="Freeform 18" id="18">
              <a:extLst>
                <a:ext uri="{C183D7F6-B498-43B3-948B-1728B52AA6E4}">
                  <adec:decorative xmlns:adec="http://schemas.microsoft.com/office/drawing/2017/decorative" val="1"/>
                </a:ext>
              </a:extLst>
            </p:cNvPr>
            <p:cNvSpPr/>
            <p:nvPr/>
          </p:nvSpPr>
          <p:spPr>
            <a:xfrm flipH="false" flipV="false" rot="0">
              <a:off x="0" y="0"/>
              <a:ext cx="2112884" cy="611193"/>
            </a:xfrm>
            <a:custGeom>
              <a:avLst/>
              <a:gdLst/>
              <a:ahLst/>
              <a:cxnLst/>
              <a:rect r="r" b="b" t="t" l="l"/>
              <a:pathLst>
                <a:path h="611193" w="2112884">
                  <a:moveTo>
                    <a:pt x="18368" y="0"/>
                  </a:moveTo>
                  <a:lnTo>
                    <a:pt x="2094515" y="0"/>
                  </a:lnTo>
                  <a:cubicBezTo>
                    <a:pt x="2099387" y="0"/>
                    <a:pt x="2104059" y="1935"/>
                    <a:pt x="2107504" y="5380"/>
                  </a:cubicBezTo>
                  <a:cubicBezTo>
                    <a:pt x="2110948" y="8825"/>
                    <a:pt x="2112884" y="13497"/>
                    <a:pt x="2112884" y="18368"/>
                  </a:cubicBezTo>
                  <a:lnTo>
                    <a:pt x="2112884" y="592824"/>
                  </a:lnTo>
                  <a:cubicBezTo>
                    <a:pt x="2112884" y="597696"/>
                    <a:pt x="2110948" y="602368"/>
                    <a:pt x="2107504" y="605813"/>
                  </a:cubicBezTo>
                  <a:cubicBezTo>
                    <a:pt x="2104059" y="609257"/>
                    <a:pt x="2099387" y="611193"/>
                    <a:pt x="2094515" y="611193"/>
                  </a:cubicBezTo>
                  <a:lnTo>
                    <a:pt x="18368" y="611193"/>
                  </a:lnTo>
                  <a:cubicBezTo>
                    <a:pt x="13497" y="611193"/>
                    <a:pt x="8825" y="609257"/>
                    <a:pt x="5380" y="605813"/>
                  </a:cubicBezTo>
                  <a:cubicBezTo>
                    <a:pt x="1935" y="602368"/>
                    <a:pt x="0" y="597696"/>
                    <a:pt x="0" y="592824"/>
                  </a:cubicBezTo>
                  <a:lnTo>
                    <a:pt x="0" y="18368"/>
                  </a:lnTo>
                  <a:cubicBezTo>
                    <a:pt x="0" y="13497"/>
                    <a:pt x="1935" y="8825"/>
                    <a:pt x="5380" y="5380"/>
                  </a:cubicBezTo>
                  <a:cubicBezTo>
                    <a:pt x="8825" y="1935"/>
                    <a:pt x="13497" y="0"/>
                    <a:pt x="18368" y="0"/>
                  </a:cubicBezTo>
                  <a:close/>
                </a:path>
              </a:pathLst>
            </a:custGeom>
            <a:solidFill>
              <a:srgbClr val="FFFFFF"/>
            </a:solidFill>
          </p:spPr>
        </p:sp>
        <p:sp>
          <p:nvSpPr>
            <p:cNvPr name="TextBox 19" id="19"/>
            <p:cNvSpPr txBox="true"/>
            <p:nvPr/>
          </p:nvSpPr>
          <p:spPr>
            <a:xfrm>
              <a:off x="0" y="47625"/>
              <a:ext cx="2112884" cy="563568"/>
            </a:xfrm>
            <a:prstGeom prst="rect">
              <a:avLst/>
            </a:prstGeom>
          </p:spPr>
          <p:txBody>
            <a:bodyPr anchor="ctr" rtlCol="false" tIns="50800" lIns="50800" bIns="50800" rIns="50800"/>
            <a:lstStyle/>
            <a:p>
              <a:pPr algn="ctr">
                <a:lnSpc>
                  <a:spcPts val="3000"/>
                </a:lnSpc>
              </a:pPr>
            </a:p>
          </p:txBody>
        </p:sp>
      </p:grpSp>
      <p:grpSp>
        <p:nvGrpSpPr>
          <p:cNvPr name="Group 20" id="20"/>
          <p:cNvGrpSpPr/>
          <p:nvPr/>
        </p:nvGrpSpPr>
        <p:grpSpPr>
          <a:xfrm rot="0">
            <a:off x="9763883" y="4852343"/>
            <a:ext cx="6419092" cy="1810898"/>
            <a:chOff x="0" y="0"/>
            <a:chExt cx="8558790" cy="2414530"/>
          </a:xfrm>
        </p:grpSpPr>
        <p:sp>
          <p:nvSpPr>
            <p:cNvPr name="TextBox 21" id="21"/>
            <p:cNvSpPr txBox="true"/>
            <p:nvPr/>
          </p:nvSpPr>
          <p:spPr>
            <a:xfrm rot="0">
              <a:off x="0" y="76200"/>
              <a:ext cx="8558790" cy="838200"/>
            </a:xfrm>
            <a:prstGeom prst="rect">
              <a:avLst/>
            </a:prstGeom>
          </p:spPr>
          <p:txBody>
            <a:bodyPr anchor="t" rtlCol="false" tIns="0" lIns="0" bIns="0" rIns="0">
              <a:spAutoFit/>
            </a:bodyPr>
            <a:lstStyle/>
            <a:p>
              <a:pPr algn="l" marL="0" indent="0" lvl="0">
                <a:lnSpc>
                  <a:spcPts val="4500"/>
                </a:lnSpc>
              </a:pPr>
              <a:r>
                <a:rPr lang="en-US" sz="4500" spc="-135">
                  <a:solidFill>
                    <a:srgbClr val="0A3D62"/>
                  </a:solidFill>
                  <a:latin typeface="DM Sans"/>
                  <a:ea typeface="DM Sans"/>
                  <a:cs typeface="DM Sans"/>
                  <a:sym typeface="DM Sans"/>
                </a:rPr>
                <a:t>Embedded C</a:t>
              </a:r>
            </a:p>
          </p:txBody>
        </p:sp>
        <p:sp>
          <p:nvSpPr>
            <p:cNvPr name="TextBox 22" id="22"/>
            <p:cNvSpPr txBox="true"/>
            <p:nvPr/>
          </p:nvSpPr>
          <p:spPr>
            <a:xfrm rot="0">
              <a:off x="0" y="1185805"/>
              <a:ext cx="8558790" cy="1228725"/>
            </a:xfrm>
            <a:prstGeom prst="rect">
              <a:avLst/>
            </a:prstGeom>
          </p:spPr>
          <p:txBody>
            <a:bodyPr anchor="t" rtlCol="false" tIns="0" lIns="0" bIns="0" rIns="0">
              <a:spAutoFit/>
            </a:bodyPr>
            <a:lstStyle/>
            <a:p>
              <a:pPr algn="l" marL="0" indent="0" lvl="0">
                <a:lnSpc>
                  <a:spcPts val="2400"/>
                </a:lnSpc>
              </a:pPr>
              <a:r>
                <a:rPr lang="en-US" sz="2000" strike="noStrike" u="none">
                  <a:solidFill>
                    <a:srgbClr val="0A3D62"/>
                  </a:solidFill>
                  <a:latin typeface="DM Sans"/>
                  <a:ea typeface="DM Sans"/>
                  <a:cs typeface="DM Sans"/>
                  <a:sym typeface="DM Sans"/>
                </a:rPr>
                <a:t>The programming language used for the implementation of algorithms that control hardware functionality and processing.</a:t>
              </a:r>
            </a:p>
          </p:txBody>
        </p:sp>
      </p:grpSp>
      <p:grpSp>
        <p:nvGrpSpPr>
          <p:cNvPr name="Group 23" id="23"/>
          <p:cNvGrpSpPr/>
          <p:nvPr/>
        </p:nvGrpSpPr>
        <p:grpSpPr>
          <a:xfrm rot="0">
            <a:off x="9763883" y="7572763"/>
            <a:ext cx="6419092" cy="1810898"/>
            <a:chOff x="0" y="0"/>
            <a:chExt cx="8558790" cy="2414530"/>
          </a:xfrm>
        </p:grpSpPr>
        <p:sp>
          <p:nvSpPr>
            <p:cNvPr name="TextBox 24" id="24"/>
            <p:cNvSpPr txBox="true"/>
            <p:nvPr/>
          </p:nvSpPr>
          <p:spPr>
            <a:xfrm rot="0">
              <a:off x="0" y="76200"/>
              <a:ext cx="8558790" cy="838200"/>
            </a:xfrm>
            <a:prstGeom prst="rect">
              <a:avLst/>
            </a:prstGeom>
          </p:spPr>
          <p:txBody>
            <a:bodyPr anchor="t" rtlCol="false" tIns="0" lIns="0" bIns="0" rIns="0">
              <a:spAutoFit/>
            </a:bodyPr>
            <a:lstStyle/>
            <a:p>
              <a:pPr algn="l" marL="0" indent="0" lvl="0">
                <a:lnSpc>
                  <a:spcPts val="4500"/>
                </a:lnSpc>
              </a:pPr>
              <a:r>
                <a:rPr lang="en-US" sz="4500" spc="-135">
                  <a:solidFill>
                    <a:srgbClr val="0A3D62"/>
                  </a:solidFill>
                  <a:latin typeface="DM Sans"/>
                  <a:ea typeface="DM Sans"/>
                  <a:cs typeface="DM Sans"/>
                  <a:sym typeface="DM Sans"/>
                </a:rPr>
                <a:t>IoT Bot Application</a:t>
              </a:r>
            </a:p>
          </p:txBody>
        </p:sp>
        <p:sp>
          <p:nvSpPr>
            <p:cNvPr name="TextBox 25" id="25"/>
            <p:cNvSpPr txBox="true"/>
            <p:nvPr/>
          </p:nvSpPr>
          <p:spPr>
            <a:xfrm rot="0">
              <a:off x="0" y="1185805"/>
              <a:ext cx="8558790" cy="1228725"/>
            </a:xfrm>
            <a:prstGeom prst="rect">
              <a:avLst/>
            </a:prstGeom>
          </p:spPr>
          <p:txBody>
            <a:bodyPr anchor="t" rtlCol="false" tIns="0" lIns="0" bIns="0" rIns="0">
              <a:spAutoFit/>
            </a:bodyPr>
            <a:lstStyle/>
            <a:p>
              <a:pPr algn="l" marL="0" indent="0" lvl="0">
                <a:lnSpc>
                  <a:spcPts val="2400"/>
                </a:lnSpc>
              </a:pPr>
              <a:r>
                <a:rPr lang="en-US" sz="2000">
                  <a:solidFill>
                    <a:srgbClr val="0A3D62"/>
                  </a:solidFill>
                  <a:latin typeface="DM Sans"/>
                  <a:ea typeface="DM Sans"/>
                  <a:cs typeface="DM Sans"/>
                  <a:sym typeface="DM Sans"/>
                </a:rPr>
                <a:t>IoT-enabled real-time monitoring and inst</a:t>
              </a:r>
              <a:r>
                <a:rPr lang="en-US" sz="2000" strike="noStrike" u="none">
                  <a:solidFill>
                    <a:srgbClr val="0A3D62"/>
                  </a:solidFill>
                  <a:latin typeface="DM Sans"/>
                  <a:ea typeface="DM Sans"/>
                  <a:cs typeface="DM Sans"/>
                  <a:sym typeface="DM Sans"/>
                </a:rPr>
                <a:t>ant alert system for enhanced vehicle safety and remote emergency response.</a:t>
              </a:r>
            </a:p>
          </p:txBody>
        </p:sp>
      </p:grpSp>
      <p:sp>
        <p:nvSpPr>
          <p:cNvPr name="TextBox 26" id="26"/>
          <p:cNvSpPr txBox="true"/>
          <p:nvPr/>
        </p:nvSpPr>
        <p:spPr>
          <a:xfrm rot="0">
            <a:off x="571500" y="486553"/>
            <a:ext cx="17145000" cy="2352675"/>
          </a:xfrm>
          <a:prstGeom prst="rect">
            <a:avLst/>
          </a:prstGeom>
        </p:spPr>
        <p:txBody>
          <a:bodyPr anchor="t" rtlCol="false" tIns="0" lIns="0" bIns="0" rIns="0">
            <a:spAutoFit/>
          </a:bodyPr>
          <a:lstStyle/>
          <a:p>
            <a:pPr algn="l" marL="0" indent="0" lvl="0">
              <a:lnSpc>
                <a:spcPts val="9000"/>
              </a:lnSpc>
            </a:pPr>
            <a:r>
              <a:rPr lang="en-US" sz="9000" spc="-270">
                <a:solidFill>
                  <a:srgbClr val="FFFFFF"/>
                </a:solidFill>
                <a:latin typeface="DM Sans"/>
                <a:ea typeface="DM Sans"/>
                <a:cs typeface="DM Sans"/>
                <a:sym typeface="DM Sans"/>
              </a:rPr>
              <a:t>Software Requirements for the Project</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0A3D62"/>
        </a:solidFill>
      </p:bgPr>
    </p:bg>
    <p:spTree>
      <p:nvGrpSpPr>
        <p:cNvPr id="1" name=""/>
        <p:cNvGrpSpPr/>
        <p:nvPr/>
      </p:nvGrpSpPr>
      <p:grpSpPr>
        <a:xfrm>
          <a:off x="0" y="0"/>
          <a:ext cx="0" cy="0"/>
          <a:chOff x="0" y="0"/>
          <a:chExt cx="0" cy="0"/>
        </a:xfrm>
      </p:grpSpPr>
      <p:sp>
        <p:nvSpPr>
          <p:cNvPr name="TextBox 2" id="2"/>
          <p:cNvSpPr txBox="true"/>
          <p:nvPr/>
        </p:nvSpPr>
        <p:spPr>
          <a:xfrm rot="0">
            <a:off x="2105025" y="3896942"/>
            <a:ext cx="14077950" cy="2333625"/>
          </a:xfrm>
          <a:prstGeom prst="rect">
            <a:avLst/>
          </a:prstGeom>
        </p:spPr>
        <p:txBody>
          <a:bodyPr anchor="t" rtlCol="false" tIns="0" lIns="0" bIns="0" rIns="0">
            <a:spAutoFit/>
          </a:bodyPr>
          <a:lstStyle/>
          <a:p>
            <a:pPr algn="ctr" marL="0" indent="0" lvl="0">
              <a:lnSpc>
                <a:spcPts val="6000"/>
              </a:lnSpc>
            </a:pPr>
            <a:r>
              <a:rPr lang="en-US" sz="6000" spc="-180">
                <a:solidFill>
                  <a:srgbClr val="FFFFFF"/>
                </a:solidFill>
                <a:latin typeface="DM Sans"/>
                <a:ea typeface="DM Sans"/>
                <a:cs typeface="DM Sans"/>
                <a:sym typeface="DM Sans"/>
              </a:rPr>
              <a:t>This project aims to enhance </a:t>
            </a:r>
            <a:r>
              <a:rPr lang="en-US" b="true" sz="6000" spc="-180">
                <a:solidFill>
                  <a:srgbClr val="FFFFFF"/>
                </a:solidFill>
                <a:latin typeface="DM Sans Bold"/>
                <a:ea typeface="DM Sans Bold"/>
                <a:cs typeface="DM Sans Bold"/>
                <a:sym typeface="DM Sans Bold"/>
              </a:rPr>
              <a:t>road safety</a:t>
            </a:r>
            <a:r>
              <a:rPr lang="en-US" sz="6000" spc="-180">
                <a:solidFill>
                  <a:srgbClr val="FFFFFF"/>
                </a:solidFill>
                <a:latin typeface="DM Sans"/>
                <a:ea typeface="DM Sans"/>
                <a:cs typeface="DM Sans"/>
                <a:sym typeface="DM Sans"/>
              </a:rPr>
              <a:t> through effective driver monitoring and accident detection.</a:t>
            </a:r>
          </a:p>
        </p:txBody>
      </p:sp>
      <p:sp>
        <p:nvSpPr>
          <p:cNvPr name="TextBox 3" id="3"/>
          <p:cNvSpPr txBox="true"/>
          <p:nvPr/>
        </p:nvSpPr>
        <p:spPr>
          <a:xfrm rot="0">
            <a:off x="3543300" y="1638300"/>
            <a:ext cx="11201400" cy="609600"/>
          </a:xfrm>
          <a:prstGeom prst="rect">
            <a:avLst/>
          </a:prstGeom>
        </p:spPr>
        <p:txBody>
          <a:bodyPr anchor="t" rtlCol="false" tIns="0" lIns="0" bIns="0" rIns="0">
            <a:spAutoFit/>
          </a:bodyPr>
          <a:lstStyle/>
          <a:p>
            <a:pPr algn="ctr" marL="0" indent="0" lvl="0">
              <a:lnSpc>
                <a:spcPts val="4500"/>
              </a:lnSpc>
            </a:pPr>
            <a:r>
              <a:rPr lang="en-US" sz="4500" spc="-135">
                <a:solidFill>
                  <a:srgbClr val="FFFFFF"/>
                </a:solidFill>
                <a:latin typeface="DM Sans"/>
                <a:ea typeface="DM Sans"/>
                <a:cs typeface="DM Sans"/>
                <a:sym typeface="DM Sans"/>
              </a:rPr>
              <a:t>Conclusion</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0F4F8"/>
        </a:solidFill>
      </p:bgPr>
    </p:bg>
    <p:spTree>
      <p:nvGrpSpPr>
        <p:cNvPr id="1" name=""/>
        <p:cNvGrpSpPr/>
        <p:nvPr/>
      </p:nvGrpSpPr>
      <p:grpSpPr>
        <a:xfrm>
          <a:off x="0" y="0"/>
          <a:ext cx="0" cy="0"/>
          <a:chOff x="0" y="0"/>
          <a:chExt cx="0" cy="0"/>
        </a:xfrm>
      </p:grpSpPr>
      <p:sp>
        <p:nvSpPr>
          <p:cNvPr name="TextBox 2" id="2"/>
          <p:cNvSpPr txBox="true"/>
          <p:nvPr/>
        </p:nvSpPr>
        <p:spPr>
          <a:xfrm rot="0">
            <a:off x="666750" y="4194532"/>
            <a:ext cx="16954500" cy="1730374"/>
          </a:xfrm>
          <a:prstGeom prst="rect">
            <a:avLst/>
          </a:prstGeom>
        </p:spPr>
        <p:txBody>
          <a:bodyPr anchor="t" rtlCol="false" tIns="0" lIns="0" bIns="0" rIns="0">
            <a:spAutoFit/>
          </a:bodyPr>
          <a:lstStyle/>
          <a:p>
            <a:pPr algn="ctr" marL="0" indent="0" lvl="0">
              <a:lnSpc>
                <a:spcPts val="12999"/>
              </a:lnSpc>
            </a:pPr>
            <a:r>
              <a:rPr lang="en-US" sz="12999" spc="-389">
                <a:solidFill>
                  <a:srgbClr val="0A3D62"/>
                </a:solidFill>
                <a:latin typeface="DM Sans"/>
                <a:ea typeface="DM Sans"/>
                <a:cs typeface="DM Sans"/>
                <a:sym typeface="DM Sans"/>
              </a:rPr>
              <a:t>Thank you!</a:t>
            </a:r>
          </a:p>
        </p:txBody>
      </p:sp>
      <p:sp>
        <p:nvSpPr>
          <p:cNvPr name="TextBox 3" id="3"/>
          <p:cNvSpPr txBox="true"/>
          <p:nvPr/>
        </p:nvSpPr>
        <p:spPr>
          <a:xfrm rot="0">
            <a:off x="3543300" y="9135293"/>
            <a:ext cx="11201400" cy="269875"/>
          </a:xfrm>
          <a:prstGeom prst="rect">
            <a:avLst/>
          </a:prstGeom>
        </p:spPr>
        <p:txBody>
          <a:bodyPr anchor="t" rtlCol="false" tIns="0" lIns="0" bIns="0" rIns="0">
            <a:spAutoFit/>
          </a:bodyPr>
          <a:lstStyle/>
          <a:p>
            <a:pPr algn="ctr" marL="0" indent="0" lvl="0">
              <a:lnSpc>
                <a:spcPts val="2000"/>
              </a:lnSpc>
            </a:pPr>
            <a:r>
              <a:rPr lang="en-US" sz="2000" spc="-60">
                <a:solidFill>
                  <a:srgbClr val="0A3D62"/>
                </a:solidFill>
                <a:latin typeface="DM Sans"/>
                <a:ea typeface="DM Sans"/>
                <a:cs typeface="DM Sans"/>
                <a:sym typeface="DM Sans"/>
              </a:rPr>
              <a:t>For questions, reach out at: m.chaitanyareddy999@gmail.com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AI-Powered Driver Drowsiness Detection</dc:description>
  <dc:identifier>DAHDDsCYTqs</dc:identifier>
  <dcterms:modified xsi:type="dcterms:W3CDTF">2011-08-01T06:04:30Z</dcterms:modified>
  <cp:revision>1</cp:revision>
  <dc:title>Presentation - AI-Powered Driver Drowsiness Detection</dc:title>
</cp:coreProperties>
</file>